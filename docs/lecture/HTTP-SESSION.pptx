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91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3"/>
    <p:restoredTop sz="94677"/>
  </p:normalViewPr>
  <p:slideViewPr>
    <p:cSldViewPr snapToGrid="0" snapToObjects="1">
      <p:cViewPr varScale="1">
        <p:scale>
          <a:sx n="199" d="100"/>
          <a:sy n="199" d="100"/>
        </p:scale>
        <p:origin x="19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HTTP 프로토콜과 HttpSession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9FC0E8"/>
                </a:solidFill>
              </a:rPr>
              <a:t>보조 이론 강의 — 강의용 Spring Boot 게시판</a:t>
            </a:r>
          </a:p>
          <a:p>
            <a:pPr>
              <a:spcBef>
                <a:spcPts val="3000"/>
              </a:spcBef>
            </a:pPr>
            <a:r>
              <a:rPr sz="1500">
                <a:solidFill>
                  <a:srgbClr val="C9D7EE"/>
                </a:solidFill>
              </a:rPr>
              <a:t>대상: Spring Boot 입문 수강생  |  선수 지식: Java 기본, curl 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429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333333"/>
                </a:solidFill>
              </a:rPr>
              <a:t>HTTP 요청/응답 메시지의 구조를 그려서 설명한다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333333"/>
                </a:solidFill>
              </a:rPr>
              <a:t>무상태(stateless)가 실제 코드에서 일으키는 문제를 시나리오로 설명한다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333333"/>
                </a:solidFill>
              </a:rPr>
              <a:t>Set-Cookie / Cookie 헤더의 협력 방식을 raw 메시지로 보여준다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333333"/>
                </a:solidFill>
              </a:rPr>
              <a:t>HttpSession이 Tomcat에서 어떻게 실체화되는지 (메모리 Map + JSESSIONID) 설명한다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333333"/>
                </a:solidFill>
              </a:rPr>
              <a:t>세션 vs 쿠키 vs JWT를 비교표로 정리한다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333333"/>
                </a:solidFill>
              </a:rPr>
              <a:t>세션의 한계(메모리, 다중 서버)와 보안 주의사항을 말한다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FC0E8"/>
                </a:solidFill>
              </a:rPr>
              <a:t>Part 1</a:t>
            </a:r>
          </a:p>
          <a:p>
            <a:r>
              <a:rPr sz="4000" b="1">
                <a:solidFill>
                  <a:srgbClr val="FFFFFF"/>
                </a:solidFill>
              </a:rPr>
              <a:t>HTTP 프로토콜 개요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9D7EE"/>
                </a:solidFill>
              </a:rPr>
              <a:t>텍스트 기반 요청/응답, 그리고 무상태(stateless)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HTTP는 “텍스트 기반 요청/응답 프로토콜”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</a:rPr>
              <a:t>웹은 결국 클라이언트가 텍스트 한 덩어리를 보내고, 서버가 텍스트 한 덩어리로 답하는 구조</a:t>
            </a:r>
          </a:p>
          <a:p>
            <a:pPr>
              <a:spcAft>
                <a:spcPts val="600"/>
              </a:spcAft>
            </a:pPr>
            <a:r>
              <a:rPr lang="ko-KR" altLang="en-US" sz="1800" b="0">
                <a:solidFill>
                  <a:srgbClr val="333333"/>
                </a:solidFill>
              </a:rPr>
              <a:t>브라우저든 curl이든, 서버 입장에서는 똑같은 형식의 텍스트 요청일 뿐이다</a:t>
            </a:r>
            <a:endParaRPr sz="1800" b="0">
              <a:solidFill>
                <a:srgbClr val="333333"/>
              </a:solidFill>
            </a:endParaRPr>
          </a:p>
        </p:txBody>
      </p:sp>
      <p:sp>
        <p:nvSpPr>
          <p:cNvPr id="20" name="DiagramBG"/>
          <p:cNvSpPr>
            <a:spLocks noGrp="1"/>
          </p:cNvSpPr>
          <p:nvPr/>
        </p:nvSpPr>
        <p:spPr>
          <a:xfrm>
            <a:off x="0" y="1968500"/>
            <a:ext cx="12192000" cy="177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lient Box"/>
          <p:cNvSpPr/>
          <p:nvPr/>
        </p:nvSpPr>
        <p:spPr>
          <a:xfrm>
            <a:off x="1371600" y="243840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" sz="1800" b="1">
                <a:solidFill>
                  <a:srgbClr val="FFFFFF"/>
                </a:solidFill>
              </a:rPr>
              <a:t>Client</a:t>
            </a:r>
          </a:p>
          <a:p>
            <a:pPr algn="ctr"/>
            <a:r>
              <a:rPr lang="en" sz="1200">
                <a:solidFill>
                  <a:srgbClr val="B9C4DA"/>
                </a:solidFill>
              </a:rPr>
              <a:t>Browser / curl</a:t>
            </a:r>
          </a:p>
        </p:txBody>
      </p:sp>
      <p:sp>
        <p:nvSpPr>
          <p:cNvPr id="5" name="Server Box"/>
          <p:cNvSpPr/>
          <p:nvPr/>
        </p:nvSpPr>
        <p:spPr>
          <a:xfrm>
            <a:off x="8277600" y="243840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Server</a:t>
            </a:r>
          </a:p>
          <a:p>
            <a:pPr algn="ctr"/>
            <a:r>
              <a:rPr sz="1200">
                <a:solidFill>
                  <a:srgbClr val="B9C4DA"/>
                </a:solidFill>
              </a:rPr>
              <a:t>Spring Boot :8090</a:t>
            </a:r>
          </a:p>
        </p:txBody>
      </p:sp>
      <p:sp>
        <p:nvSpPr>
          <p:cNvPr id="6" name="Request Label"/>
          <p:cNvSpPr txBox="1"/>
          <p:nvPr/>
        </p:nvSpPr>
        <p:spPr>
          <a:xfrm>
            <a:off x="4038600" y="2453640"/>
            <a:ext cx="4114800" cy="33832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algn="ctr"/>
            <a:r>
              <a:rPr sz="1300" b="1">
                <a:solidFill>
                  <a:srgbClr val="2E75B6"/>
                </a:solidFill>
              </a:rPr>
              <a:t>요청 (Request) = 텍스트</a:t>
            </a:r>
          </a:p>
        </p:txBody>
      </p:sp>
      <p:cxnSp>
        <p:nvCxnSpPr>
          <p:cNvPr id="7" name="Request Arrow"/>
          <p:cNvCxnSpPr/>
          <p:nvPr/>
        </p:nvCxnSpPr>
        <p:spPr>
          <a:xfrm>
            <a:off x="3886200" y="2849880"/>
            <a:ext cx="43914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</p:cxnSp>
      <p:cxnSp>
        <p:nvCxnSpPr>
          <p:cNvPr id="8" name="Response Arrow"/>
          <p:cNvCxnSpPr/>
          <p:nvPr/>
        </p:nvCxnSpPr>
        <p:spPr>
          <a:xfrm flipH="1">
            <a:off x="3886200" y="3192240"/>
            <a:ext cx="4391400" cy="0"/>
          </a:xfrm>
          <a:prstGeom prst="straightConnector1">
            <a:avLst/>
          </a:prstGeom>
          <a:ln w="28575">
            <a:solidFill>
              <a:srgbClr val="9AA7BD"/>
            </a:solidFill>
            <a:tailEnd type="triangle" w="med" len="med"/>
          </a:ln>
        </p:spPr>
      </p:cxnSp>
      <p:sp>
        <p:nvSpPr>
          <p:cNvPr id="9" name="Response Label"/>
          <p:cNvSpPr txBox="1"/>
          <p:nvPr/>
        </p:nvSpPr>
        <p:spPr>
          <a:xfrm>
            <a:off x="4038600" y="3200400"/>
            <a:ext cx="4114800" cy="338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sz="1300" b="1">
                <a:solidFill>
                  <a:srgbClr val="667085"/>
                </a:solidFill>
              </a:rPr>
              <a:t>응답 (Response) = 텍스트</a:t>
            </a:r>
          </a:p>
        </p:txBody>
      </p:sp>
      <p:sp>
        <p:nvSpPr>
          <p:cNvPr id="10" name="Example Code Block"/>
          <p:cNvSpPr/>
          <p:nvPr/>
        </p:nvSpPr>
        <p:spPr>
          <a:xfrm>
            <a:off x="1371600" y="3771900"/>
            <a:ext cx="9420600" cy="2628900"/>
          </a:xfrm>
          <a:prstGeom prst="roundRect">
            <a:avLst>
              <a:gd name="adj" fmla="val 4000"/>
            </a:avLst>
          </a:prstGeom>
          <a:solidFill>
            <a:srgbClr val="262A33"/>
          </a:solidFill>
          <a:ln>
            <a:noFill/>
          </a:ln>
        </p:spPr>
        <p:txBody>
          <a:bodyPr wrap="square" lIns="274320" tIns="182880" rtlCol="0" anchor="t"/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7FB069"/>
                </a:solidFill>
                <a:latin typeface="Courier New"/>
              </a:rPr>
              <a:t># 요청 (Request) — curl -v http://localhost:8090/boards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GET /boards HTTP/1.1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Host: localhost:8090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7FB069"/>
                </a:solidFill>
                <a:latin typeface="Courier New"/>
              </a:rPr>
              <a:t># 응답 (Response)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HTTP/1.1 200 OK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Content-Type: text/html;charset=UTF-8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9AA7BD"/>
                </a:solidFill>
                <a:latin typeface="Courier New"/>
              </a:rPr>
              <a:t>&lt;html&gt; ... 게시판 목록 ... &lt;/html&gt;</a:t>
            </a:r>
          </a:p>
        </p:txBody>
      </p:sp>
    </p:spTree>
    <p:extLst>
      <p:ext uri="{BB962C8B-B14F-4D97-AF65-F5344CB8AC3E}">
        <p14:creationId xmlns:p14="http://schemas.microsoft.com/office/powerpoint/2010/main" val="92768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HTTP 요청 메시지 구조</a:t>
            </a:r>
          </a:p>
          <a:p>
            <a:r>
              <a:rPr sz="1300">
                <a:solidFill>
                  <a:srgbClr val="C9D7EE"/>
                </a:solidFill>
              </a:rPr>
              <a:t>이 프로젝트의 로그인 요청을 raw로 보면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Request line (메서드/경로/버전) → Headers → 빈 줄 → Body(선택)</a:t>
            </a:r>
          </a:p>
        </p:txBody>
      </p:sp>
      <p:sp>
        <p:nvSpPr>
          <p:cNvPr id="110" name="code"/>
          <p:cNvSpPr/>
          <p:nvPr/>
        </p:nvSpPr>
        <p:spPr>
          <a:xfrm>
            <a:off x="1097280" y="2103120"/>
            <a:ext cx="7000000" cy="2350000"/>
          </a:xfrm>
          <a:prstGeom prst="roundRect">
            <a:avLst>
              <a:gd name="adj" fmla="val 3000"/>
            </a:avLst>
          </a:prstGeom>
          <a:solidFill>
            <a:srgbClr val="262A33"/>
          </a:solidFill>
          <a:ln>
            <a:noFill/>
          </a:ln>
        </p:spPr>
        <p:txBody>
          <a:bodyPr wrap="square" lIns="228600" tIns="137160" rtlCol="0" anchor="t"/>
          <a:lstStyle/>
          <a:p>
            <a:pPr algn="l">
              <a:spcAft>
                <a:spcPts val="300"/>
              </a:spcAft>
            </a:pPr>
            <a:r>
              <a:rPr lang="ko-KR" sz="1500">
                <a:solidFill>
                  <a:srgbClr val="E8EAF0"/>
                </a:solidFill>
                <a:latin typeface="Courier New"/>
              </a:rPr>
              <a:t>POST /api/v1/auth/login HTTP/1.1</a:t>
            </a:r>
          </a:p>
          <a:p>
            <a:pPr algn="l"/>
            <a:r>
              <a:rPr lang="ko-KR" sz="1500">
                <a:solidFill>
                  <a:srgbClr val="E8EAF0"/>
                </a:solidFill>
                <a:latin typeface="Courier New"/>
              </a:rPr>
              <a:t>Host: localhost:8090</a:t>
            </a:r>
          </a:p>
          <a:p>
            <a:pPr algn="l"/>
            <a:r>
              <a:rPr lang="ko-KR" sz="1500">
                <a:solidFill>
                  <a:srgbClr val="E8EAF0"/>
                </a:solidFill>
                <a:latin typeface="Courier New"/>
              </a:rPr>
              <a:t>Content-Type: application/json</a:t>
            </a:r>
          </a:p>
          <a:p>
            <a:pPr algn="l">
              <a:spcAft>
                <a:spcPts val="300"/>
              </a:spcAft>
            </a:pPr>
            <a:r>
              <a:rPr lang="ko-KR" sz="1500">
                <a:solidFill>
                  <a:srgbClr val="E8EAF0"/>
                </a:solidFill>
                <a:latin typeface="Courier New"/>
              </a:rPr>
              <a:t>Content-Length: 47</a:t>
            </a:r>
          </a:p>
          <a:p>
            <a:pPr algn="l">
              <a:spcAft>
                <a:spcPts val="300"/>
              </a:spcAft>
            </a:pPr>
            <a:r>
              <a:rPr lang="ko-KR" sz="1500">
                <a:solidFill>
                  <a:srgbClr val="E8EAF0"/>
                </a:solidFill>
                <a:latin typeface="Courier New"/>
              </a:rPr>
              <a:t> </a:t>
            </a:r>
          </a:p>
          <a:p>
            <a:pPr algn="l"/>
            <a:r>
              <a:rPr lang="ko-KR" sz="1500">
                <a:solidFill>
                  <a:srgbClr val="7FB069"/>
                </a:solidFill>
                <a:latin typeface="Courier New"/>
              </a:rPr>
              <a:t>{"username":"alice","password":"..."}</a:t>
            </a:r>
          </a:p>
        </p:txBody>
      </p:sp>
      <p:sp>
        <p:nvSpPr>
          <p:cNvPr id="111" name="l1"/>
          <p:cNvSpPr/>
          <p:nvPr/>
        </p:nvSpPr>
        <p:spPr>
          <a:xfrm>
            <a:off x="8350000" y="2200000"/>
            <a:ext cx="2500000" cy="36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</a:rPr>
              <a:t>Request line</a:t>
            </a:r>
          </a:p>
        </p:txBody>
      </p:sp>
      <p:sp>
        <p:nvSpPr>
          <p:cNvPr id="112" name="brace"/>
          <p:cNvSpPr/>
          <p:nvPr/>
        </p:nvSpPr>
        <p:spPr>
          <a:xfrm>
            <a:off x="8120000" y="2520000"/>
            <a:ext cx="170000" cy="720000"/>
          </a:xfrm>
          <a:prstGeom prst="rightBrace">
            <a:avLst/>
          </a:prstGeom>
          <a:noFill/>
          <a:ln w="19050">
            <a:solidFill>
              <a:srgbClr val="9AA7BD"/>
            </a:solidFill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13" name="l2"/>
          <p:cNvSpPr/>
          <p:nvPr/>
        </p:nvSpPr>
        <p:spPr>
          <a:xfrm>
            <a:off x="8400000" y="2720000"/>
            <a:ext cx="2400000" cy="36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</a:rPr>
              <a:t>Headers</a:t>
            </a:r>
          </a:p>
        </p:txBody>
      </p:sp>
      <p:sp>
        <p:nvSpPr>
          <p:cNvPr id="114" name="l3"/>
          <p:cNvSpPr/>
          <p:nvPr/>
        </p:nvSpPr>
        <p:spPr>
          <a:xfrm>
            <a:off x="8350000" y="3220000"/>
            <a:ext cx="2700000" cy="360000"/>
          </a:xfrm>
          <a:prstGeom prst="roundRect">
            <a:avLst>
              <a:gd name="adj" fmla="val 30000"/>
            </a:avLst>
          </a:prstGeom>
          <a:solidFill>
            <a:srgbClr val="667085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</a:rPr>
              <a:t>빈 줄 (헤더 끝)</a:t>
            </a:r>
          </a:p>
        </p:txBody>
      </p:sp>
      <p:sp>
        <p:nvSpPr>
          <p:cNvPr id="115" name="l4"/>
          <p:cNvSpPr/>
          <p:nvPr/>
        </p:nvSpPr>
        <p:spPr>
          <a:xfrm>
            <a:off x="8400000" y="3560000"/>
            <a:ext cx="2400000" cy="36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</a:rPr>
              <a:t>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GET 요청은 보통 Body가 없고 쿼리 파라미터(?key=value)로 데이터를 전달한다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HTTP 응답 메시지 구조</a:t>
            </a:r>
          </a:p>
          <a:p>
            <a:r>
              <a:rPr sz="1300">
                <a:solidFill>
                  <a:srgbClr val="C9D7EE"/>
                </a:solidFill>
              </a:rPr>
              <a:t>로그인 성공 응답 — Set-Cookie에 주목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Status line (버전/상태코드) → Headers → 빈 줄 →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9966960" cy="274320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HTTP/1.1 200 OK                                      ← Status line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Content-Type: application/json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Set-Cookie: JSESSIONID=8B6C2D9E...; Path=/; HttpOnly ← ★ 세션의 열쇠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Content-Length: 65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{"id":1,"username":"alice","email":"alice@example.com","role":"USER"}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Set-Cookie 헤더 — 서버가 “이 값을 기억했다가 다음에 보내줘”라고 부탁하는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주요 HTTP 메서드 — 이 프로젝트 API 기준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메서드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이 프로젝트 예시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GET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조회 (멱등, 안전)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GET /api/v1/boards, GET /api/v1/posts/{id}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POST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생성 / 비-멱등 동작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POST /api/v1/auth/login, POST /api/v1/boards/{boardId}/posts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PUT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전체 수정 (멱등)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PUT /api/v1/posts/{id}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DELETE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삭제 (멱등)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DELETE /api/v1/posts/{id}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주요 상태 코드 — 이 프로젝트에서 언제 나오나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9441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3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코드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이 프로젝트 예시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200 OK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성공 (본문 있음)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로그인 성공, 글 조회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201 Created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리소스 생성됨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signup, 게시글/게시판 생성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204 No Content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성공 (본문 없음)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logout, 게시글 삭제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400 Bad Request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입력값 검증 실패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@Valid 실패 (INVALID_INPUT)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401 Unauthorized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인증 필요/실패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LOGIN_REQUIRED, LOGIN_FAILED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403 Forbidden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인증됐지만 권한 없음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POST_ACCESS_DENIED, ADMIN_ONLY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404 Not Found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리소스 없음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POST_NOT_FOUND 등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409 Conflict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충돌 (중복)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DUPLICATE_USERNAME 등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500 Internal Server Error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서버 내부 오류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예상치 못한 예외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401 = “당신이 누군지 모르겠다(로그인하라)”  vs  403 = “누군진 아는데 이건 못한다”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무상태(stateless) — HTTP의 본질</a:t>
            </a:r>
          </a:p>
          <a:p>
            <a:r>
              <a:rPr sz="1300">
                <a:solidFill>
                  <a:srgbClr val="C9D7EE"/>
                </a:solidFill>
              </a:rPr>
              <a:t>“HTTP 서버는 이전 요청을 기억하지 않는다”</a:t>
            </a:r>
          </a:p>
        </p:txBody>
      </p:sp>
      <p:sp>
        <p:nvSpPr>
          <p:cNvPr id="100" name="card1"/>
          <p:cNvSpPr/>
          <p:nvPr/>
        </p:nvSpPr>
        <p:spPr>
          <a:xfrm>
            <a:off x="1097280" y="1430000"/>
            <a:ext cx="9966960" cy="108000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E75B6"/>
            </a:solidFill>
          </a:ln>
        </p:spPr>
        <p:txBody>
          <a:bodyPr wrap="square" lIns="240000" rtlCol="0" anchor="ctr"/>
          <a:lstStyle/>
          <a:p>
            <a:pPr algn="l">
              <a:spcAft>
                <a:spcPts val="400"/>
              </a:spcAft>
            </a:pPr>
            <a:r>
              <a:rPr lang="ko-KR" sz="1300" b="1">
                <a:solidFill>
                  <a:srgbClr val="2E75B6"/>
                </a:solidFill>
              </a:rPr>
              <a:t>[1초]  </a:t>
            </a:r>
            <a:r>
              <a:rPr lang="ko-KR" sz="1250">
                <a:solidFill>
                  <a:srgbClr val="333333"/>
                </a:solidFill>
                <a:latin typeface="Courier New"/>
              </a:rPr>
              <a:t>Client → POST /api/v1/auth/login {"username":"alice", ...}</a:t>
            </a:r>
          </a:p>
          <a:p>
            <a:pPr algn="l"/>
            <a:r>
              <a:rPr lang="ko-KR" sz="1250" b="1">
                <a:solidFill>
                  <a:srgbClr val="333333"/>
                </a:solidFill>
              </a:rPr>
              <a:t>Server: </a:t>
            </a:r>
            <a:r>
              <a:rPr lang="ko-KR" sz="1250">
                <a:solidFill>
                  <a:srgbClr val="2E7D32"/>
                </a:solidFill>
              </a:rPr>
              <a:t>"OK, alice 로그인 성공"   </a:t>
            </a:r>
            <a:r>
              <a:rPr lang="ko-KR" sz="1500" b="1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101" name="card2"/>
          <p:cNvSpPr/>
          <p:nvPr/>
        </p:nvSpPr>
        <p:spPr>
          <a:xfrm>
            <a:off x="1097280" y="2640000"/>
            <a:ext cx="9966960" cy="118000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C0504D"/>
            </a:solidFill>
          </a:ln>
        </p:spPr>
        <p:txBody>
          <a:bodyPr wrap="square" lIns="240000" rtlCol="0" anchor="ctr"/>
          <a:lstStyle/>
          <a:p>
            <a:pPr algn="l">
              <a:spcAft>
                <a:spcPts val="400"/>
              </a:spcAft>
            </a:pPr>
            <a:r>
              <a:rPr lang="ko-KR" sz="1300" b="1">
                <a:solidFill>
                  <a:srgbClr val="C0504D"/>
                </a:solidFill>
              </a:rPr>
              <a:t>[2초]  </a:t>
            </a:r>
            <a:r>
              <a:rPr lang="ko-KR" sz="1250">
                <a:solidFill>
                  <a:srgbClr val="333333"/>
                </a:solidFill>
                <a:latin typeface="Courier New"/>
              </a:rPr>
              <a:t>Client → POST /api/v1/boards/1/posts {"title":"hello", ...}</a:t>
            </a:r>
          </a:p>
          <a:p>
            <a:pPr algn="l"/>
            <a:r>
              <a:rPr lang="ko-KR" sz="1250" b="1">
                <a:solidFill>
                  <a:srgbClr val="333333"/>
                </a:solidFill>
              </a:rPr>
              <a:t>Server: </a:t>
            </a:r>
            <a:r>
              <a:rPr lang="ko-KR" sz="1250">
                <a:solidFill>
                  <a:srgbClr val="C0504D"/>
                </a:solidFill>
              </a:rPr>
              <a:t>"...누구세요? 방금 들어온 alice인지 다른 사람인지 나는 모릅니다."   </a:t>
            </a:r>
            <a:r>
              <a:rPr lang="ko-KR" sz="1500" b="1">
                <a:solidFill>
                  <a:srgbClr val="C0504D"/>
                </a:solidFill>
              </a:rPr>
              <a:t>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944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33333"/>
                </a:solidFill>
              </a:rPr>
              <a:t>각 HTTP 요청은 완전히 독립적 — 서버는 매 요청을 “처음 보는 사람”처럼 처리한다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1초 전 요청과 지금 요청을 자동으로 연결할 방법이 없다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가장 단순한 (그러나 최악의) 해법</a:t>
            </a:r>
          </a:p>
          <a:p>
            <a:r>
              <a:rPr sz="1300">
                <a:solidFill>
                  <a:srgbClr val="C9D7EE"/>
                </a:solidFill>
              </a:rPr>
              <a:t>매 요청마다 비밀번호 보내기?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9966960" cy="173736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E8EAF0"/>
                </a:solidFill>
                <a:latin typeface="Courier New"/>
              </a:rPr>
              <a:t># ❌ 절대 안 됨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8EAF0"/>
                </a:solidFill>
                <a:latin typeface="Courier New"/>
              </a:rPr>
              <a:t>POST /api/v1/boards/1/posts HTTP/1.1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8EAF0"/>
                </a:solidFill>
                <a:latin typeface="Courier New"/>
              </a:rPr>
              <a:t>X-Username: alice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8EAF0"/>
                </a:solidFill>
                <a:latin typeface="Courier New"/>
              </a:rPr>
              <a:t>X-Password: alice1234!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10944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네트워크 도청 시 매번 평문 비밀번호 노출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클라이언트가 비밀번호를 계속 보관해야 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비밀번호 변경 시 모든 클라이언트가 깨짐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→ 그래서 쿠키 + 세션 메커니즘이 발명되었다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쿠키 메커니즘 — Set-Cookie / Cookie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서버: 응답에 Set-Cookie — “이 값을 기억했다가 다음에 보내줘”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</a:rPr>
              <a:t>브라우저(curl -b): 이후 요청마다 Cookie 헤더로 같은 값을 다시 보낸다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94560"/>
            <a:ext cx="9966960" cy="320040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[1차 응답]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HTTP/1.1 200 OK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Set-Cookie: JSESSIONID=8B6C2D9E4F1A; Path=/; HttpOnly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     ⬇  브라우저가 쿠키 저장소에 저장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[2차 요청 — 자동]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GET /api/v1/boards HTTP/1.1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Host: localhost:8090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Cookie: JSESSIONID=8B6C2D9E4F1A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쿠키는 그냥 이름=값 약속일 뿐 — 그 의미(세션 ID인지 추적용인지)는 서버가 정한다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FC0E8"/>
                </a:solidFill>
              </a:rPr>
              <a:t>Part 2</a:t>
            </a:r>
          </a:p>
          <a:p>
            <a:r>
              <a:rPr sz="4000" b="1">
                <a:solidFill>
                  <a:srgbClr val="FFFFFF"/>
                </a:solidFill>
              </a:rPr>
              <a:t>HttpSession의 필요성과 개념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9D7EE"/>
                </a:solidFill>
              </a:rPr>
              <a:t>세션 = 서버 측 저장소, JSESSIONID = 그 저장소의 열쇠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핵심 아이디어 — “비밀번호 대신 식별표”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① 로그인 시 서버는 사용자 정보를 서버 메모리에 저장한다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② 저장소에 접근할 수 있는 임의의 키(세션 ID)를 발급한다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③ 이 키만 쿠키(JSESSIONID)로 클라이언트에게 준다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333333"/>
                </a:solidFill>
              </a:rPr>
              <a:t>④ 이후 클라이언트는 키만 보낸다 — 서버는 키로 저장소를 뒤져 사용자를 식별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1F3864"/>
                </a:solidFill>
              </a:rPr>
              <a:t>세션 = 서버 측 저장소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1F3864"/>
                </a:solidFill>
              </a:rPr>
              <a:t>JSESSIONID 쿠키 = 그 저장소를 가리키는 열쇠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E74B5"/>
                </a:solidFill>
              </a:rPr>
              <a:t>비밀번호는 단 한 번, 로그인 때만 전송된다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전체 흐름 ① — 로그인과 세션 생성</a:t>
            </a:r>
          </a:p>
        </p:txBody>
      </p:sp>
      <p:sp>
        <p:nvSpPr>
          <p:cNvPr id="50" name="Client"/>
          <p:cNvSpPr/>
          <p:nvPr/>
        </p:nvSpPr>
        <p:spPr>
          <a:xfrm>
            <a:off x="1000000" y="1300000"/>
            <a:ext cx="2700000" cy="52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6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51" name="Server"/>
          <p:cNvSpPr/>
          <p:nvPr/>
        </p:nvSpPr>
        <p:spPr>
          <a:xfrm>
            <a:off x="8500000" y="1300000"/>
            <a:ext cx="3100000" cy="52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600" b="1">
                <a:solidFill>
                  <a:srgbClr val="FFFFFF"/>
                </a:solidFill>
              </a:rPr>
              <a:t>Server (Tomcat)</a:t>
            </a:r>
          </a:p>
        </p:txBody>
      </p:sp>
      <p:cxnSp>
        <p:nvCxnSpPr>
          <p:cNvPr id="52" name="LL1"/>
          <p:cNvCxnSpPr/>
          <p:nvPr/>
        </p:nvCxnSpPr>
        <p:spPr>
          <a:xfrm>
            <a:off x="2350000" y="1820000"/>
            <a:ext cx="0" cy="3830000"/>
          </a:xfrm>
          <a:prstGeom prst="straightConnector1">
            <a:avLst/>
          </a:prstGeom>
          <a:ln w="19050">
            <a:solidFill>
              <a:srgbClr val="BFC7D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53" name="LL2"/>
          <p:cNvCxnSpPr/>
          <p:nvPr/>
        </p:nvCxnSpPr>
        <p:spPr>
          <a:xfrm>
            <a:off x="10050000" y="1820000"/>
            <a:ext cx="0" cy="3830000"/>
          </a:xfrm>
          <a:prstGeom prst="straightConnector1">
            <a:avLst/>
          </a:prstGeom>
          <a:ln w="19050">
            <a:solidFill>
              <a:srgbClr val="BFC7D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54" name="reqlbl"/>
          <p:cNvSpPr txBox="1"/>
          <p:nvPr/>
        </p:nvSpPr>
        <p:spPr>
          <a:xfrm>
            <a:off x="2350000" y="1880000"/>
            <a:ext cx="7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ctr"/>
            <a:r>
              <a:rPr lang="ko-KR" sz="1300" b="1">
                <a:solidFill>
                  <a:srgbClr val="2E75B6"/>
                </a:solidFill>
              </a:rPr>
              <a:t>① POST /auth/login {alice, pw}</a:t>
            </a:r>
          </a:p>
        </p:txBody>
      </p:sp>
      <p:cxnSp>
        <p:nvCxnSpPr>
          <p:cNvPr id="55" name="reqA"/>
          <p:cNvCxnSpPr/>
          <p:nvPr/>
        </p:nvCxnSpPr>
        <p:spPr>
          <a:xfrm>
            <a:off x="2350000" y="2230000"/>
            <a:ext cx="77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56" name="proc"/>
          <p:cNvSpPr/>
          <p:nvPr/>
        </p:nvSpPr>
        <p:spPr>
          <a:xfrm>
            <a:off x="6450000" y="2450000"/>
            <a:ext cx="4900000" cy="1500000"/>
          </a:xfrm>
          <a:prstGeom prst="roundRect">
            <a:avLst>
              <a:gd name="adj" fmla="val 4000"/>
            </a:avLst>
          </a:prstGeom>
          <a:solidFill>
            <a:srgbClr val="262A33"/>
          </a:solidFill>
          <a:ln>
            <a:noFill/>
          </a:ln>
        </p:spPr>
        <p:txBody>
          <a:bodyPr wrap="square" lIns="180000" tIns="110000" rtlCol="0" anchor="t"/>
          <a:lstStyle/>
          <a:p>
            <a:pPr algn="l">
              <a:spcAft>
                <a:spcPts val="300"/>
              </a:spcAft>
            </a:pPr>
            <a:r>
              <a:rPr lang="ko-KR" sz="1150">
                <a:solidFill>
                  <a:srgbClr val="E8EAF0"/>
                </a:solidFill>
                <a:latin typeface="Courier New"/>
              </a:rPr>
              <a:t>② AuthService.login() 검증</a:t>
            </a:r>
          </a:p>
          <a:p>
            <a:pPr algn="l">
              <a:spcAft>
                <a:spcPts val="300"/>
              </a:spcAft>
            </a:pPr>
            <a:r>
              <a:rPr lang="ko-KR" sz="1150">
                <a:solidFill>
                  <a:srgbClr val="E8EAF0"/>
                </a:solidFill>
                <a:latin typeface="Courier New"/>
              </a:rPr>
              <a:t>③ session.setAttribute("loginUserId", 1L)</a:t>
            </a:r>
          </a:p>
          <a:p>
            <a:pPr algn="l">
              <a:spcAft>
                <a:spcPts val="300"/>
              </a:spcAft>
            </a:pPr>
            <a:r>
              <a:rPr lang="ko-KR" sz="1150">
                <a:solidFill>
                  <a:srgbClr val="E8EAF0"/>
                </a:solidFill>
                <a:latin typeface="Courier New"/>
              </a:rPr>
              <a:t>④ Session Store(메모리 Map)에 저장:</a:t>
            </a:r>
          </a:p>
          <a:p>
            <a:pPr algn="l"/>
            <a:r>
              <a:rPr lang="ko-KR" sz="1150">
                <a:solidFill>
                  <a:srgbClr val="7FB069"/>
                </a:solidFill>
                <a:latin typeface="Courier New"/>
              </a:rPr>
              <a:t>     { "8B6C..." → { loginUserId: 1 } }</a:t>
            </a:r>
          </a:p>
        </p:txBody>
      </p:sp>
      <p:sp>
        <p:nvSpPr>
          <p:cNvPr id="57" name="resplbl"/>
          <p:cNvSpPr txBox="1"/>
          <p:nvPr/>
        </p:nvSpPr>
        <p:spPr>
          <a:xfrm>
            <a:off x="2350000" y="4080000"/>
            <a:ext cx="7700000" cy="64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spcAft>
                <a:spcPts val="200"/>
              </a:spcAft>
            </a:pPr>
            <a:r>
              <a:rPr lang="ko-KR" sz="1300" b="1">
                <a:solidFill>
                  <a:srgbClr val="1F3864"/>
                </a:solidFill>
              </a:rPr>
              <a:t>⑤ 200 OK</a:t>
            </a:r>
          </a:p>
          <a:p>
            <a:pPr algn="ctr"/>
            <a:r>
              <a:rPr lang="ko-KR" sz="1100">
                <a:solidFill>
                  <a:srgbClr val="667085"/>
                </a:solidFill>
                <a:latin typeface="Courier New"/>
              </a:rPr>
              <a:t>Set-Cookie: JSESSIONID=8B6C...; HttpOnly</a:t>
            </a:r>
          </a:p>
        </p:txBody>
      </p:sp>
      <p:cxnSp>
        <p:nvCxnSpPr>
          <p:cNvPr id="58" name="respA"/>
          <p:cNvCxnSpPr/>
          <p:nvPr/>
        </p:nvCxnSpPr>
        <p:spPr>
          <a:xfrm flipH="1">
            <a:off x="2350000" y="4790000"/>
            <a:ext cx="7700000" cy="0"/>
          </a:xfrm>
          <a:prstGeom prst="straightConnector1">
            <a:avLst/>
          </a:prstGeom>
          <a:ln w="28575">
            <a:solidFill>
              <a:srgbClr val="9AA7B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59" name="foot"/>
          <p:cNvSpPr txBox="1"/>
          <p:nvPr/>
        </p:nvSpPr>
        <p:spPr>
          <a:xfrm>
            <a:off x="1000000" y="4880000"/>
            <a:ext cx="34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>
                <a:solidFill>
                  <a:srgbClr val="667085"/>
                </a:solidFill>
              </a:rPr>
              <a:t>(브라우저가 쿠키 저장)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전체 흐름 ② — 후속 요청에서 사용자 식별</a:t>
            </a:r>
          </a:p>
        </p:txBody>
      </p:sp>
      <p:sp>
        <p:nvSpPr>
          <p:cNvPr id="60" name="Client"/>
          <p:cNvSpPr/>
          <p:nvPr/>
        </p:nvSpPr>
        <p:spPr>
          <a:xfrm>
            <a:off x="1000000" y="1300000"/>
            <a:ext cx="2700000" cy="52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6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61" name="Server"/>
          <p:cNvSpPr/>
          <p:nvPr/>
        </p:nvSpPr>
        <p:spPr>
          <a:xfrm>
            <a:off x="8500000" y="1300000"/>
            <a:ext cx="3100000" cy="52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600" b="1">
                <a:solidFill>
                  <a:srgbClr val="FFFFFF"/>
                </a:solidFill>
              </a:rPr>
              <a:t>Server (Tomcat)</a:t>
            </a:r>
          </a:p>
        </p:txBody>
      </p:sp>
      <p:cxnSp>
        <p:nvCxnSpPr>
          <p:cNvPr id="62" name="LL1"/>
          <p:cNvCxnSpPr/>
          <p:nvPr/>
        </p:nvCxnSpPr>
        <p:spPr>
          <a:xfrm>
            <a:off x="2350000" y="1820000"/>
            <a:ext cx="0" cy="3080000"/>
          </a:xfrm>
          <a:prstGeom prst="straightConnector1">
            <a:avLst/>
          </a:prstGeom>
          <a:ln w="19050">
            <a:solidFill>
              <a:srgbClr val="BFC7D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63" name="LL2"/>
          <p:cNvCxnSpPr/>
          <p:nvPr/>
        </p:nvCxnSpPr>
        <p:spPr>
          <a:xfrm>
            <a:off x="10050000" y="1820000"/>
            <a:ext cx="0" cy="3080000"/>
          </a:xfrm>
          <a:prstGeom prst="straightConnector1">
            <a:avLst/>
          </a:prstGeom>
          <a:ln w="19050">
            <a:solidFill>
              <a:srgbClr val="BFC7D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64" name="reqlbl"/>
          <p:cNvSpPr txBox="1"/>
          <p:nvPr/>
        </p:nvSpPr>
        <p:spPr>
          <a:xfrm>
            <a:off x="2350000" y="1880000"/>
            <a:ext cx="77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ctr">
              <a:spcAft>
                <a:spcPts val="200"/>
              </a:spcAft>
            </a:pPr>
            <a:r>
              <a:rPr lang="ko-KR" sz="1300" b="1">
                <a:solidFill>
                  <a:srgbClr val="2E75B6"/>
                </a:solidFill>
              </a:rPr>
              <a:t>⑥ POST /boards/1/posts {title, content}</a:t>
            </a:r>
          </a:p>
          <a:p>
            <a:pPr algn="ctr"/>
            <a:r>
              <a:rPr lang="ko-KR" sz="1100">
                <a:solidFill>
                  <a:srgbClr val="667085"/>
                </a:solidFill>
                <a:latin typeface="Courier New"/>
              </a:rPr>
              <a:t>Cookie: JSESSIONID=8B6C...</a:t>
            </a:r>
          </a:p>
        </p:txBody>
      </p:sp>
      <p:cxnSp>
        <p:nvCxnSpPr>
          <p:cNvPr id="65" name="reqA"/>
          <p:cNvCxnSpPr/>
          <p:nvPr/>
        </p:nvCxnSpPr>
        <p:spPr>
          <a:xfrm>
            <a:off x="2350000" y="2560000"/>
            <a:ext cx="77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66" name="proc"/>
          <p:cNvSpPr/>
          <p:nvPr/>
        </p:nvSpPr>
        <p:spPr>
          <a:xfrm>
            <a:off x="6450000" y="2780000"/>
            <a:ext cx="4900000" cy="1300000"/>
          </a:xfrm>
          <a:prstGeom prst="roundRect">
            <a:avLst>
              <a:gd name="adj" fmla="val 4000"/>
            </a:avLst>
          </a:prstGeom>
          <a:solidFill>
            <a:srgbClr val="262A33"/>
          </a:solidFill>
          <a:ln>
            <a:noFill/>
          </a:ln>
        </p:spPr>
        <p:txBody>
          <a:bodyPr wrap="square" lIns="180000" tIns="110000" rtlCol="0" anchor="t"/>
          <a:lstStyle/>
          <a:p>
            <a:pPr algn="l">
              <a:spcAft>
                <a:spcPts val="300"/>
              </a:spcAft>
            </a:pPr>
            <a:r>
              <a:rPr lang="ko-KR" sz="1150">
                <a:solidFill>
                  <a:srgbClr val="E8EAF0"/>
                </a:solidFill>
                <a:latin typeface="Courier New"/>
              </a:rPr>
              <a:t>⑦ JSESSIONID로 Session Store 조회</a:t>
            </a:r>
          </a:p>
          <a:p>
            <a:pPr algn="l">
              <a:spcAft>
                <a:spcPts val="300"/>
              </a:spcAft>
            </a:pPr>
            <a:r>
              <a:rPr lang="ko-KR" sz="1100">
                <a:solidFill>
                  <a:srgbClr val="E8EAF0"/>
                </a:solidFill>
                <a:latin typeface="Courier New"/>
              </a:rPr>
              <a:t>⑧ @SessionAttribute로 loginUserId = 1L 주입</a:t>
            </a:r>
          </a:p>
          <a:p>
            <a:pPr algn="l"/>
            <a:r>
              <a:rPr lang="ko-KR" sz="1150">
                <a:solidFill>
                  <a:srgbClr val="7FB069"/>
                </a:solidFill>
                <a:latin typeface="Courier New"/>
              </a:rPr>
              <a:t>⑨ postService.create(...)</a:t>
            </a:r>
          </a:p>
        </p:txBody>
      </p:sp>
      <p:sp>
        <p:nvSpPr>
          <p:cNvPr id="67" name="resplbl"/>
          <p:cNvSpPr txBox="1"/>
          <p:nvPr/>
        </p:nvSpPr>
        <p:spPr>
          <a:xfrm>
            <a:off x="2350000" y="4180000"/>
            <a:ext cx="7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00" b="1">
                <a:solidFill>
                  <a:srgbClr val="1F3864"/>
                </a:solidFill>
              </a:rPr>
              <a:t>⑩ 201 Created</a:t>
            </a:r>
          </a:p>
        </p:txBody>
      </p:sp>
      <p:cxnSp>
        <p:nvCxnSpPr>
          <p:cNvPr id="68" name="respA"/>
          <p:cNvCxnSpPr/>
          <p:nvPr/>
        </p:nvCxnSpPr>
        <p:spPr>
          <a:xfrm flipH="1">
            <a:off x="2350000" y="4560000"/>
            <a:ext cx="7700000" cy="0"/>
          </a:xfrm>
          <a:prstGeom prst="straightConnector1">
            <a:avLst/>
          </a:prstGeom>
          <a:ln w="28575">
            <a:solidFill>
              <a:srgbClr val="9AA7B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4" name="Rectangle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비밀번호 없이도 서버가 “이 요청은 alice다”를 아는 이유 = 쿠키 속 키 + 서버 저장소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세션의 역할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7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이 프로젝트 예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인증 상태 유지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“이 클라이언트는 로그인된 alice”를 기억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session.setAttribute(LOGIN_USER_ID, user.id())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사용자별 임시 데이터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장바구니, 진행 중 폼, 최근 본 글 등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(단계 1은 인증만 사용)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로그아웃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서버 측 상태를 지워 즉시 무효화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session.invalidate()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세션 vs 쿠키 vs JWT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9441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1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Cookie (값만 사용)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HttpSession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JWT (토큰)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상태 보관 위치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클라이언트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서버 메모리/DB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클라이언트 (토큰에 정보 포함)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서버 상태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stateless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stateful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stateless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식별 수단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쿠키 그 자체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JSESSIONID 쿠키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Authorization: Bearer 헤더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위변조 방지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별도 서명 필요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서버 보관 → 변조 무의미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서명(Signature)으로 보장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다중 서버 확장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영향 없음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세션 공유 필요 (Redis 등)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영향 없음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로그아웃 즉시 무효화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어려움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쉬움 (invalidate())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어려움 (블랙리스트 필요)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이 프로젝트 단계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단계 1 (현재)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단계 2 (예정)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세션은 확장성을, JWT는 즉시 무효화를 양보한다 — 정답은 없고 트레이드오프 선택이다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세션 생명주기</a:t>
            </a:r>
          </a:p>
        </p:txBody>
      </p:sp>
      <p:sp>
        <p:nvSpPr>
          <p:cNvPr id="70" name="A"/>
          <p:cNvSpPr/>
          <p:nvPr/>
        </p:nvSpPr>
        <p:spPr>
          <a:xfrm>
            <a:off x="900000" y="1480000"/>
            <a:ext cx="2600000" cy="76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500" b="1">
                <a:solidFill>
                  <a:srgbClr val="FFFFFF"/>
                </a:solidFill>
              </a:rPr>
              <a:t>(세션 없음)</a:t>
            </a:r>
          </a:p>
        </p:txBody>
      </p:sp>
      <p:sp>
        <p:nvSpPr>
          <p:cNvPr id="71" name="lblAB"/>
          <p:cNvSpPr txBox="1"/>
          <p:nvPr/>
        </p:nvSpPr>
        <p:spPr>
          <a:xfrm>
            <a:off x="3500000" y="15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ctr"/>
            <a:r>
              <a:rPr lang="ko-KR" sz="1100" b="1">
                <a:solidFill>
                  <a:srgbClr val="2E75B6"/>
                </a:solidFill>
              </a:rPr>
              <a:t>최초 getSession()</a:t>
            </a:r>
          </a:p>
        </p:txBody>
      </p:sp>
      <p:cxnSp>
        <p:nvCxnSpPr>
          <p:cNvPr id="72" name="AB"/>
          <p:cNvCxnSpPr/>
          <p:nvPr/>
        </p:nvCxnSpPr>
        <p:spPr>
          <a:xfrm>
            <a:off x="3500000" y="1860000"/>
            <a:ext cx="1700000" cy="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73" name="B"/>
          <p:cNvSpPr/>
          <p:nvPr/>
        </p:nvSpPr>
        <p:spPr>
          <a:xfrm>
            <a:off x="5200000" y="1480000"/>
            <a:ext cx="3500000" cy="820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lang="ko-KR" sz="1500" b="1">
                <a:solidFill>
                  <a:srgbClr val="FFFFFF"/>
                </a:solidFill>
              </a:rPr>
              <a:t>생성됨</a:t>
            </a:r>
          </a:p>
          <a:p>
            <a:pPr algn="ctr"/>
            <a:r>
              <a:rPr lang="ko-KR" sz="1100">
                <a:solidFill>
                  <a:srgbClr val="B9C4DA"/>
                </a:solidFill>
              </a:rPr>
              <a:t>(Set-Cookie 발급)</a:t>
            </a:r>
          </a:p>
        </p:txBody>
      </p:sp>
      <p:sp>
        <p:nvSpPr>
          <p:cNvPr id="74" name="C1"/>
          <p:cNvSpPr/>
          <p:nvPr/>
        </p:nvSpPr>
        <p:spPr>
          <a:xfrm>
            <a:off x="4050000" y="2950000"/>
            <a:ext cx="3050000" cy="9500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2E75B6"/>
            </a:solidFill>
          </a:ln>
        </p:spPr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lang="ko-KR" sz="1200" b="1">
                <a:solidFill>
                  <a:srgbClr val="1F3864"/>
                </a:solidFill>
              </a:rPr>
              <a:t>30분 동안 요청 없음</a:t>
            </a:r>
          </a:p>
          <a:p>
            <a:pPr algn="ctr"/>
            <a:r>
              <a:rPr lang="ko-KR" sz="950">
                <a:solidFill>
                  <a:srgbClr val="667085"/>
                </a:solidFill>
                <a:latin typeface="Courier New"/>
              </a:rPr>
              <a:t>(server.servlet.session.timeout)</a:t>
            </a:r>
          </a:p>
        </p:txBody>
      </p:sp>
      <p:sp>
        <p:nvSpPr>
          <p:cNvPr id="75" name="C2"/>
          <p:cNvSpPr/>
          <p:nvPr/>
        </p:nvSpPr>
        <p:spPr>
          <a:xfrm>
            <a:off x="7700000" y="2950000"/>
            <a:ext cx="3050000" cy="9500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2E75B6"/>
            </a:solidFill>
          </a:ln>
        </p:spPr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lang="ko-KR" sz="1200" b="1">
                <a:solidFill>
                  <a:srgbClr val="1F3864"/>
                </a:solidFill>
                <a:latin typeface="Courier New"/>
              </a:rPr>
              <a:t>session.invalidate()</a:t>
            </a:r>
          </a:p>
          <a:p>
            <a:pPr algn="ctr"/>
            <a:r>
              <a:rPr lang="ko-KR" sz="1000">
                <a:solidFill>
                  <a:srgbClr val="667085"/>
                </a:solidFill>
              </a:rPr>
              <a:t>(예: logout)</a:t>
            </a:r>
          </a:p>
        </p:txBody>
      </p:sp>
      <p:cxnSp>
        <p:nvCxnSpPr>
          <p:cNvPr id="76" name="BC1"/>
          <p:cNvCxnSpPr/>
          <p:nvPr/>
        </p:nvCxnSpPr>
        <p:spPr>
          <a:xfrm flipH="1">
            <a:off x="5575000" y="2300000"/>
            <a:ext cx="1375000" cy="65000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77" name="BC2"/>
          <p:cNvCxnSpPr/>
          <p:nvPr/>
        </p:nvCxnSpPr>
        <p:spPr>
          <a:xfrm>
            <a:off x="6950000" y="2300000"/>
            <a:ext cx="2275000" cy="65000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78" name="C"/>
          <p:cNvSpPr/>
          <p:nvPr/>
        </p:nvSpPr>
        <p:spPr>
          <a:xfrm>
            <a:off x="4900000" y="4350000"/>
            <a:ext cx="3600000" cy="76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ko-KR" sz="1400" b="1">
                <a:solidFill>
                  <a:srgbClr val="FFFFFF"/>
                </a:solidFill>
              </a:rPr>
              <a:t>소멸 (Map에서 제거)</a:t>
            </a:r>
          </a:p>
        </p:txBody>
      </p:sp>
      <p:cxnSp>
        <p:nvCxnSpPr>
          <p:cNvPr id="79" name="C1C"/>
          <p:cNvCxnSpPr/>
          <p:nvPr/>
        </p:nvCxnSpPr>
        <p:spPr>
          <a:xfrm>
            <a:off x="5575000" y="3900000"/>
            <a:ext cx="1125000" cy="450000"/>
          </a:xfrm>
          <a:prstGeom prst="straightConnector1">
            <a:avLst/>
          </a:prstGeom>
          <a:ln w="28575">
            <a:solidFill>
              <a:srgbClr val="9AA7B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80" name="C2C"/>
          <p:cNvCxnSpPr/>
          <p:nvPr/>
        </p:nvCxnSpPr>
        <p:spPr>
          <a:xfrm flipH="1">
            <a:off x="6700000" y="3900000"/>
            <a:ext cx="2525000" cy="450000"/>
          </a:xfrm>
          <a:prstGeom prst="straightConnector1">
            <a:avLst/>
          </a:prstGeom>
          <a:ln w="28575">
            <a:solidFill>
              <a:srgbClr val="9AA7BD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4" name="TextBox 3"/>
          <p:cNvSpPr txBox="1"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기본 타임아웃 30분 — 매 요청마다 “마지막 접근 시각”이 갱신되어 활동 중이면 만료되지 않음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FC0E8"/>
                </a:solidFill>
              </a:rPr>
              <a:t>Part 3</a:t>
            </a:r>
          </a:p>
          <a:p>
            <a:r>
              <a:rPr sz="4000" b="1">
                <a:solidFill>
                  <a:srgbClr val="FFFFFF"/>
                </a:solidFill>
              </a:rPr>
              <a:t>개념과 실체 — 코드로서의 Session 객체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9D7EE"/>
                </a:solidFill>
              </a:rPr>
              <a:t>HttpSession 인터페이스와 Tomcat의 메모리 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“세션”은 실제로 어디에 존재하는가</a:t>
            </a:r>
          </a:p>
          <a:p>
            <a:r>
              <a:rPr sz="1300">
                <a:solidFill>
                  <a:srgbClr val="C9D7EE"/>
                </a:solidFill>
              </a:rPr>
              <a:t>Tomcat 내부 — 메모리 Map의 객체</a:t>
            </a:r>
          </a:p>
        </p:txBody>
      </p:sp>
      <p:sp>
        <p:nvSpPr>
          <p:cNvPr id="90" name="Tomcat"/>
          <p:cNvSpPr/>
          <p:nvPr/>
        </p:nvSpPr>
        <p:spPr>
          <a:xfrm>
            <a:off x="640080" y="1290000"/>
            <a:ext cx="6035040" cy="4500000"/>
          </a:xfrm>
          <a:prstGeom prst="roundRect">
            <a:avLst>
              <a:gd name="adj" fmla="val 3000"/>
            </a:avLst>
          </a:prstGeom>
          <a:solidFill>
            <a:srgbClr val="EFF3F9"/>
          </a:solidFill>
          <a:ln w="19050">
            <a:solidFill>
              <a:srgbClr val="1F3864"/>
            </a:solidFill>
          </a:ln>
        </p:spPr>
        <p:txBody>
          <a:bodyPr wrap="square" lIns="160000" tIns="90000" rtlCol="0" anchor="t"/>
          <a:lstStyle/>
          <a:p>
            <a:pPr algn="l"/>
            <a:r>
              <a:rPr lang="ko-KR" sz="1300" b="1">
                <a:solidFill>
                  <a:srgbClr val="1F3864"/>
                </a:solidFill>
              </a:rPr>
              <a:t>Tomcat (JVM 프로세스) 내부</a:t>
            </a:r>
          </a:p>
        </p:txBody>
      </p:sp>
      <p:sp>
        <p:nvSpPr>
          <p:cNvPr id="91" name="SM"/>
          <p:cNvSpPr/>
          <p:nvPr/>
        </p:nvSpPr>
        <p:spPr>
          <a:xfrm>
            <a:off x="800000" y="1760000"/>
            <a:ext cx="5720000" cy="3960000"/>
          </a:xfrm>
          <a:prstGeom prst="roundRect">
            <a:avLst>
              <a:gd name="adj" fmla="val 3000"/>
            </a:avLst>
          </a:prstGeom>
          <a:solidFill>
            <a:srgbClr val="DCE6F2"/>
          </a:solidFill>
          <a:ln w="12700">
            <a:solidFill>
              <a:srgbClr val="2E75B6"/>
            </a:solidFill>
          </a:ln>
        </p:spPr>
        <p:txBody>
          <a:bodyPr wrap="square" lIns="150000" tIns="80000" rtlCol="0" anchor="t"/>
          <a:lstStyle/>
          <a:p>
            <a:pPr algn="l"/>
            <a:r>
              <a:rPr lang="ko-KR" sz="1200" b="1">
                <a:solidFill>
                  <a:srgbClr val="1F3864"/>
                </a:solidFill>
              </a:rPr>
              <a:t>Session Manager</a:t>
            </a:r>
          </a:p>
        </p:txBody>
      </p:sp>
      <p:sp>
        <p:nvSpPr>
          <p:cNvPr id="92" name="Map"/>
          <p:cNvSpPr/>
          <p:nvPr/>
        </p:nvSpPr>
        <p:spPr>
          <a:xfrm>
            <a:off x="980000" y="2250000"/>
            <a:ext cx="5360000" cy="3360000"/>
          </a:xfrm>
          <a:prstGeom prst="roundRect">
            <a:avLst>
              <a:gd name="adj" fmla="val 2500"/>
            </a:avLst>
          </a:prstGeom>
          <a:solidFill>
            <a:srgbClr val="262A33"/>
          </a:solidFill>
          <a:ln>
            <a:noFill/>
          </a:ln>
        </p:spPr>
        <p:txBody>
          <a:bodyPr wrap="square" lIns="160000" tIns="100000" rtlCol="0" anchor="t"/>
          <a:lstStyle/>
          <a:p>
            <a:pPr algn="l">
              <a:spcAft>
                <a:spcPts val="400"/>
              </a:spcAft>
            </a:pPr>
            <a:r>
              <a:rPr lang="ko-KR" sz="1200" b="1">
                <a:solidFill>
                  <a:srgbClr val="9AD0EC"/>
                </a:solidFill>
                <a:latin typeface="Courier New"/>
              </a:rPr>
              <a:t>ConcurrentHashMap&lt;String, Session&gt;</a:t>
            </a:r>
          </a:p>
          <a:p>
            <a:pPr algn="l">
              <a:spcAft>
                <a:spcPts val="150"/>
              </a:spcAft>
            </a:pPr>
            <a:r>
              <a:rPr lang="ko-KR" sz="1150">
                <a:solidFill>
                  <a:srgbClr val="E8EAF0"/>
                </a:solidFill>
                <a:latin typeface="Courier New"/>
              </a:rPr>
              <a:t>"8B6C2D9E..." → StandardSession</a:t>
            </a:r>
          </a:p>
          <a:p>
            <a:pPr algn="l">
              <a:spcAft>
                <a:spcPts val="150"/>
              </a:spcAft>
            </a:pPr>
            <a:r>
              <a:rPr lang="ko-KR" sz="1100">
                <a:solidFill>
                  <a:srgbClr val="B9C4DA"/>
                </a:solidFill>
                <a:latin typeface="Courier New"/>
              </a:rPr>
              <a:t>        ├ attributes: "loginUserId":1L</a:t>
            </a:r>
          </a:p>
          <a:p>
            <a:pPr algn="l">
              <a:spcAft>
                <a:spcPts val="150"/>
              </a:spcAft>
            </a:pPr>
            <a:r>
              <a:rPr lang="ko-KR" sz="1100">
                <a:solidFill>
                  <a:srgbClr val="B9C4DA"/>
                </a:solidFill>
                <a:latin typeface="Courier New"/>
              </a:rPr>
              <a:t>        ├ creationTime</a:t>
            </a:r>
          </a:p>
          <a:p>
            <a:pPr algn="l">
              <a:spcAft>
                <a:spcPts val="400"/>
              </a:spcAft>
            </a:pPr>
            <a:r>
              <a:rPr lang="ko-KR" sz="1100">
                <a:solidFill>
                  <a:srgbClr val="B9C4DA"/>
                </a:solidFill>
                <a:latin typeface="Courier New"/>
              </a:rPr>
              <a:t>        └ lastAccessedTime</a:t>
            </a:r>
          </a:p>
          <a:p>
            <a:pPr algn="l"/>
            <a:r>
              <a:rPr lang="ko-KR" sz="1150">
                <a:solidFill>
                  <a:srgbClr val="E8EAF0"/>
                </a:solidFill>
                <a:latin typeface="Courier New"/>
              </a:rPr>
              <a:t>"F3A1..."     → StandardSession(bob)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HttpSession은 인터페이스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</a:rPr>
              <a:t>jakarta.servlet.http.HttpSession — 우리 코드는 이것만 알면 된다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실제 구현체는 Tomcat의 StandardSession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</a:rPr>
              <a:t>Map처럼 동작하는 저장소에 세션 객체 보관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JSESSIONID는 언제 발급되나?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getSession() 최초 호출(또는 HttpSession 파라미터 주입) 순간 새 세션 생성 + Set-Cookie 자동 추가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실제 코드 ① — AuthController#login</a:t>
            </a:r>
          </a:p>
          <a:p>
            <a:r>
              <a:rPr sz="1300">
                <a:solidFill>
                  <a:srgbClr val="C9D7EE"/>
                </a:solidFill>
              </a:rPr>
              <a:t>auth/AuthController.java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219456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@PostMapping("/login")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public UserResponse login(@Valid @RequestBody LoginRequest request,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                     HttpSession session)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UserResponse user = authService.login(request);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session.setAttribute(SessionConst.LOGIN_USER_ID, user.id());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return user;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65760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코드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HttpSession session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Spring이 현재 요청의 세션을 자동 주입 — 없으면 새로 만든다 (Set-Cookie 준비)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authService.login(request)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username/password 검증. 실패 시 UnauthorizedException → 401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session.setAttribute(...)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 Map에 ("loginUserId" → 1L) 보관 — 서버 메모리에만 남는다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실제 코드 ② — AuthController#logout</a:t>
            </a:r>
          </a:p>
          <a:p>
            <a:r>
              <a:rPr sz="1300">
                <a:solidFill>
                  <a:srgbClr val="C9D7EE"/>
                </a:solidFill>
              </a:rPr>
              <a:t>getSession(false)가 핵심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237744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@PostMapping("/logout")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@ResponseStatus(HttpStatus.NO_CONTENT)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public void logout(HttpServletRequest request)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HttpSession session = request.getSession(false);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if (session != null)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session.invalidate();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84048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코드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getSession(false)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“있으면 가져오고, 없으면 새로 만들지 마라” — true면 로그아웃이 새 세션을 만드는 모순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session.invalidate()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서버 저장소에서 세션 제거 → 같은 JSESSIONID를 보내도 “그런 세션 없음”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@ResponseStatus(NO_CONTENT)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204 응답 — Body 없음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실제 코드 ③ — SessionConst (키 상수화)</a:t>
            </a:r>
          </a:p>
          <a:p>
            <a:r>
              <a:rPr sz="1300">
                <a:solidFill>
                  <a:srgbClr val="C9D7EE"/>
                </a:solidFill>
              </a:rPr>
              <a:t>auth/SessionConst.java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5303520" cy="237744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public final class SessionConst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public static final String LOGIN_USER_ID = "loginUserId";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private SessionConst()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34440"/>
            <a:ext cx="4937760" cy="237744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// ❌ 나쁜 예 — 문자열 흩뿌리기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session.setAttribute("loginUserId", id);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session.getAttribute("loginuserid");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//                    ^^^^ 오타!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// 컴파일러는 못 잡고, 런타임에 null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// → "로그인이 풀렸다" 미스터리 버그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상수로 통일하면 IDE 자동완성 + 컴파일 단계 안전성 확보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</a:rPr>
              <a:t>final class + private 생성자 → 인스턴스/상속을 막아 “상수 보관소” 역할만 강제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실제 코드 ④ — 꺼내 쓰는 쪽: PostController</a:t>
            </a:r>
          </a:p>
          <a:p>
            <a:r>
              <a:rPr sz="1300">
                <a:solidFill>
                  <a:srgbClr val="C9D7EE"/>
                </a:solidFill>
              </a:rPr>
              <a:t>post/PostController.java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365760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@PostMapping("/boards/{boardId}/posts")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@ResponseStatus(HttpStatus.CREATED)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public PostResponse create(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  @PathVariable Long boardId,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  @SessionAttribute(name = SessionConst.LOGIN_USER_ID, required = false)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  Long loginUserId,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  @Valid @RequestBody PostCreateRequest request)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return postService.create(boardId, requireLogin(loginUserId), request);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private Long requireLogin(Long loginUserId)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if (loginUserId == null)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  throw new UnauthorizedException(ErrorCode.LOGIN_REQUIRED);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  return loginUserId;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8EAF0"/>
                </a:solidFill>
                <a:latin typeface="Courier New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required = false로 받아 직접 검사 → 우리가 정의한 401(LOGIN_REQUIRED)로 일관되게 응답하기 위함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세션이 없거나 속성이 없으면 null 주입 → requireLogin()이 401로 차단. BoardController도 동일 패턴.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HttpSession 주요 API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3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API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getSession() / getSession(true)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세션이 없으면 새로 만든다 (이때 JSESSIONID 발급)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getSession(false)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있으면 가져오고, 없으면 null — 새로 만들지 않음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setAttribute(name, value)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 저장소에 데이터 보관 (Serializable 권장)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getAttribute(name)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보관된 데이터 조회 — Object 반환, 캐스팅 필요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removeAttribute(name)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특정 속성만 제거 (세션 자체는 유지)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invalidate()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 전체 무효화 — 로그아웃의 표준 구현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setMaxInactiveInterval(sec)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비활성 타임아웃 설정 (초 단위, 음수면 무한)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getId()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 ID 문자열 — 디버깅 로그용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헷갈리는 3가지</a:t>
            </a:r>
          </a:p>
          <a:p>
            <a:r>
              <a:rPr sz="1300">
                <a:solidFill>
                  <a:srgbClr val="C9D7EE"/>
                </a:solidFill>
              </a:rPr>
              <a:t>@SessionAttribute / HttpSession / @SessionAttributes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어떻게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언제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@SessionAttribute (단수)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컨트롤러 파라미터에 붙여 세션 값 주입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이미 저장된 값을 읽을 때 — PostController, BoardController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HttpSession 직접 주입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파라미터에 HttpSession 타입 선언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값을 저장하거나 invalidate() 등 제어 — AuthController#login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@SessionAttributes (복수)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클래스 레벨, @ModelAttribute와 연동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전통적 SSR 폼 처리 — REST API에선 거의 안 씀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단수 @SessionAttribute(파라미터용) ≠ 복수 @SessionAttributes(클래스용) — 한 글자 차이, 자동완성 실수 주의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FC0E8"/>
                </a:solidFill>
              </a:rPr>
              <a:t>Part 4</a:t>
            </a:r>
          </a:p>
          <a:p>
            <a:r>
              <a:rPr sz="4000" b="1">
                <a:solidFill>
                  <a:srgbClr val="FFFFFF"/>
                </a:solidFill>
              </a:rPr>
              <a:t>구현 정리 + 실습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9D7EE"/>
                </a:solidFill>
              </a:rPr>
              <a:t>curl로 쿠키를 눈으로 확인하기 (포트 8090)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로그인 → 글 작성 전체 시퀀스 (이 프로젝트 기준)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515600" cy="402336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① POST /api/v1/auth/login {username, password}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AuthService: findByUsername + passwordEncoder.matches()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session.setAttribute("loginUserId", user.id())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200 OK + Set-Cookie: JSESSIONID=8B6C...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② POST /api/v1/boards/1/posts  (Cookie: JSESSIONID=8B6C...)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Spring: JSESSIONID로 세션 조회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@SessionAttribute로 loginUserId 주입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requireLogin(): null이면 401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postService.create(boardId, userId, request)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→ 201 Created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curl 실습 ① — 로그인하고 쿠키 저장</a:t>
            </a:r>
          </a:p>
          <a:p>
            <a:r>
              <a:rPr sz="1300">
                <a:solidFill>
                  <a:srgbClr val="C9D7EE"/>
                </a:solidFill>
              </a:rPr>
              <a:t>./gradlew bootRun으로 앱을 띄운 뒤 (포트 8090)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1. 회원가입 (사전 준비)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curl -i -X POST http://localhost:8090/api/v1/auth/signup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-H "Content-Type: application/json"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-d '{"username":"alice","email":"alice@example.com",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     "password":"Alice1234!","nickname":"엘리스"}'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→ 201 Created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2. 로그인 — -c cookies.txt 로 쿠키 저장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curl -i -X POST http://localhost:8090/api/v1/auth/login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-H "Content-Type: application/json"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-c cookies.txt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-d '{"username":"alice","password":"Alice1234!"}'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응답 헤더 확인: Set-Cookie: JSESSIONID=...; Path=/; HttpOnly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curl 실습 ② — 쿠키 전송, 401, 로그아웃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3. 글 작성 — -b cookies.txt 로 쿠키 전송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curl -i -X POST http://localhost:8090/api/v1/boards/1/posts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-H "Content-Type: application/json" -b cookies.txt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 -d '{"title":"hello","content":"my first post"}'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→ 201 Created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4. 쿠키 없이 같은 요청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  → 401 {"code":"LOGIN_REQUIRED","message":"로그인이 필요합니다."}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5. 로그아웃 후 같은 쿠키 재사용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curl -i -X POST http://localhost:8090/api/v1/auth/logout -b cookies.txt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→ 204 No Content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8EAF0"/>
                </a:solidFill>
                <a:latin typeface="Courier New"/>
              </a:rPr>
              <a:t>#   같은 쿠키로 다시 글 작성 → 401 (서버 세션이 invalidate 됨)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같은 JSESSIONID 값을 보내도 서버 측 세션이 제거되어 매칭되지 않는다는 것을 직접 확인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세션 방식의 한계 → 단계 2 (JWT) 예고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4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한계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메모리 사용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동시 접속자 수만큼 세션 객체가 JVM 메모리에 쌓인다 (1만 명 = 1만 개)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다중 서버 확장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서버 A 로그인 → 서버 B 라우팅 시 세션 없음. Redis 세션 저장소 / sticky session 필요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재시작 시 휘발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Tomcat 메모리가 기본 저장소 — 재배포하면 전원 로그아웃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CSRF 표면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</a:rPr>
                        <a:t>쿠키는 브라우저가 자동 동봉 → CSRF 공격 표면 (단계 1은 csrf.disable 상태)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944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</a:rPr>
              <a:t>다음 단계 — JWT (stateless)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</a:rPr>
              <a:t>서버가 아무것도 기억하지 않고, 서명된 토큰이 “나는 alice, 만료는 1시간 뒤”를 들고 다닌다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서버 100대로 늘려도 세션 동기화 고민 없음 — 대신 토큰 즉시 무효화가 어려워진다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보안 주의사항 3가지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위협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방어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HttpOnly 쿠키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XSS로 document.cookie에서 JSESSIONID 탈취 → 세션 하이재킹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HttpOnly 플래그 — JS에서 쿠키 접근 차단 (Tomcat 기본 적용)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 고정 공격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공격자가 미리 발급받은 세션 ID를 피해자에게 심고, 로그인 후 행세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로그인 성공 직후 세션 ID 재발급 (Spring Security 도입 시 기본 제공)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평문 통신 도청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HTTP면 와이파이 도청자가 Cookie 헤더를 그대로 읽음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운영은 반드시 HTTPS + Secure 플래그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solidFill>
            <a:srgbClr val="EFF3F9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400" b="1">
                <a:solidFill>
                  <a:srgbClr val="1F3864"/>
                </a:solidFill>
              </a:rPr>
              <a:t>이 프로젝트는 단계 1 단순화 상태 — Spring Security를 다시 켜는 단계 2에서 자연스럽게 보강된다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핵심 요약 한 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9966960" cy="4754880"/>
          </a:xfrm>
          <a:prstGeom prst="rect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37160" rtlCol="0" anchor="t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HTTP는 stateless → "기억하는 척" 하려면 쿠키 + 세션이 필요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세션  = 서버 메모리 Map (Tomcat이 관리)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쿠키  = 그 Map을 가리키는 열쇠 (JSESSIONID, HttpOnly)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저장:  session.setAttribute(SessionConst.LOGIN_USER_ID, userId)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  ↑ AuthController#login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사용:  @SessionAttribute(name=..., required=false) Long loginUserId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  ↑ PostController#create, BoardController#create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종료:  request.getSession(false).invalidate()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      ↑ AuthController#logout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한계:  메모리, 다중 서버 → 다음 단계 JWT(stateless)로 발전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8EAF0"/>
                </a:solidFill>
                <a:latin typeface="Courier New"/>
              </a:rPr>
              <a:t>보안:  HttpOnly / 로그인 시 세션 재생성 / HTTPS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자주 나오는 질문 (FAQ)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답변 요약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세션 타임아웃 변경?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server.servlet.session.timeout: 1h 또는 setMaxInactiveInterval(3600)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두 브라우저로 로그인하면?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각각 다른 JSESSIONID로 별개 세션 — 한쪽 로그아웃해도 다른 쪽 유지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왜 User 객체 전체를 안 넣나?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메모리 낭비 + 비밀번호 해시 노출 + DB와 불일치 — ID만 저장이 정석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csrf.disable 괜찮나?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운영에선 켜야 함 — 학습 단계 1 단순화, 단계 2에서 다룬다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로그인했는데 401?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curl -c(저장)와 -b(전송)를 함께 사용했는지 확인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앱 재시작 후 전원 로그아웃?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기본 저장소가 Tomcat 메모리(휘발) — Redis 또는 JWT로 해결</a:t>
                      </a:r>
                    </a:p>
                  </a:txBody>
                  <a:tcPr marL="73152" marR="73152" anchor="ctr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FC0E8"/>
                </a:solidFill>
              </a:rPr>
              <a:t>정리</a:t>
            </a:r>
          </a:p>
          <a:p>
            <a:pPr>
              <a:spcBef>
                <a:spcPts val="1600"/>
              </a:spcBef>
            </a:pPr>
            <a:r>
              <a:rPr sz="3000" b="1">
                <a:solidFill>
                  <a:srgbClr val="FFFFFF"/>
                </a:solidFill>
              </a:rPr>
              <a:t>HTTP는 기억하지 않는다. 세션이 대신 기억한다.</a:t>
            </a:r>
          </a:p>
          <a:p>
            <a:pPr>
              <a:spcBef>
                <a:spcPts val="1600"/>
              </a:spcBef>
            </a:pPr>
            <a:r>
              <a:rPr sz="3000" b="1">
                <a:solidFill>
                  <a:srgbClr val="FFFFFF"/>
                </a:solidFill>
              </a:rPr>
              <a:t>그리고 그 실체는 Tomcat 메모리 속 Map 하나다.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C9D7EE"/>
                </a:solidFill>
              </a:rPr>
              <a:t>다음 강의: 서버가 기억하지 않는 인증 — JWT (단계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77A39D-3233-564D-B250-90EF68141C2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de37801-c04e-41bd-91ed-1dc31c1fdc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3163</Words>
  <Application>Microsoft Macintosh PowerPoint</Application>
  <PresentationFormat>와이드스크린</PresentationFormat>
  <Paragraphs>455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은범 김</cp:lastModifiedBy>
  <cp:revision>2</cp:revision>
  <dcterms:created xsi:type="dcterms:W3CDTF">2013-01-27T09:14:16Z</dcterms:created>
  <dcterms:modified xsi:type="dcterms:W3CDTF">2026-06-12T17:36:31Z</dcterms:modified>
  <cp:category/>
</cp:coreProperties>
</file>