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0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6089904" cy="228600"/>
          </a:xfrm>
          <a:prstGeom prst="rect">
            <a:avLst/>
          </a:prstGeom>
          <a:solidFill>
            <a:srgbClr val="2E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89904" y="4846320"/>
            <a:ext cx="6099048" cy="228600"/>
          </a:xfrm>
          <a:prstGeom prst="rect">
            <a:avLst/>
          </a:prstGeom>
          <a:solidFill>
            <a:srgbClr val="1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세션 인증 vs JWT 인증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9FC0E8"/>
                </a:solidFill>
              </a:rPr>
              <a:t>Stateful 세션과 Stateless 토큰의 차이</a:t>
            </a:r>
          </a:p>
          <a:p>
            <a:pPr>
              <a:spcBef>
                <a:spcPts val="2600"/>
              </a:spcBef>
            </a:pPr>
            <a:r>
              <a:rPr sz="1500">
                <a:solidFill>
                  <a:srgbClr val="C9D7EE"/>
                </a:solidFill>
              </a:rPr>
              <a:t>강의용 Spring Boot 게시판 — 단계 1(세션) → 단계 2(JWT)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한 문장으로 보는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440680" cy="548640"/>
          </a:xfrm>
          <a:prstGeom prst="rect">
            <a:avLst/>
          </a:prstGeom>
          <a:solidFill>
            <a:srgbClr val="2E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세션 (Stateful)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5440680" cy="3474720"/>
          </a:xfrm>
          <a:prstGeom prst="rect">
            <a:avLst/>
          </a:prstGeom>
          <a:solidFill>
            <a:srgbClr val="E7EFF8"/>
          </a:solidFill>
          <a:ln>
            <a:solidFill>
              <a:srgbClr val="2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1400"/>
              </a:spcAft>
            </a:pPr>
            <a:r>
              <a:rPr sz="2200" b="1">
                <a:solidFill>
                  <a:srgbClr val="2E5E9E"/>
                </a:solidFill>
              </a:rPr>
              <a:t>서버가 기억한다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로그인하면 서버 메모리에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사용자 상태를 저장하고,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클라이언트에는 그 저장소를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</a:rPr>
              <a:t>가리키는 열쇠(JSESSIONID)만 준다.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E5E9E"/>
                </a:solidFill>
              </a:rPr>
              <a:t>"키를 줄게. 나머지는 내가 기억할게."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371600"/>
            <a:ext cx="5440680" cy="548640"/>
          </a:xfrm>
          <a:prstGeom prst="rect">
            <a:avLst/>
          </a:prstGeom>
          <a:solidFill>
            <a:srgbClr val="1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JWT (Stateless)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920240"/>
            <a:ext cx="5440680" cy="3474720"/>
          </a:xfrm>
          <a:prstGeom prst="rect">
            <a:avLst/>
          </a:prstGeom>
          <a:solidFill>
            <a:srgbClr val="E3F2EA"/>
          </a:solidFill>
          <a:ln>
            <a:solidFill>
              <a:srgbClr val="1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1400"/>
              </a:spcAft>
            </a:pPr>
            <a:r>
              <a:rPr sz="2200" b="1">
                <a:solidFill>
                  <a:srgbClr val="1F7A52"/>
                </a:solidFill>
              </a:rPr>
              <a:t>토큰이 들고 다닌다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로그인하면 사용자 정보를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서명된 토큰에 담아 주고,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서버는 아무것도 저장하지 않는다.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</a:rPr>
              <a:t>매 요청마다 토큰이 신원을 증명한다.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7A52"/>
                </a:solidFill>
              </a:rPr>
              <a:t>"정보를 줄게. 너가 매번 가져와."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7A520A"/>
                </a:solidFill>
              </a:rPr>
              <a:t>세션은 확장성을 양보하고 즉시 무효화를 얻고, JWT는 즉시 무효화를 양보하고 확장성을 얻는다 — 트레이드오프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핵심 비교표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세션 (단계 1)</a:t>
                      </a:r>
                    </a:p>
                  </a:txBody>
                  <a:tcPr marL="73152" marR="54864" marT="18288" marB="18288" anchor="ctr">
                    <a:solidFill>
                      <a:srgbClr val="2E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JWT (단계 2)</a:t>
                      </a:r>
                    </a:p>
                  </a:txBody>
                  <a:tcPr marL="73152" marR="54864" marT="18288" marB="18288" anchor="ctr">
                    <a:solidFill>
                      <a:srgbClr val="1F7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상태 보관 위치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서버 메모리(Tomcat)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클라이언트(토큰 안)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서버 상태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Stateful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Stateless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로그인 응답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Set-Cookie: JSESSIONID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{ accessToken, ... }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이후 요청에 싣는 것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Cookie: JSESSIONID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Authorization: Bearer &lt;token&gt;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사용자 식별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쿠키로 서버 저장소 조회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토큰 서명 검증 후 안의 userId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로그아웃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session.invalidate()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클라이언트가 토큰 폐기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다중 서버 확장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세션 공유 필요(Redis 등)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그대로 확장 가능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즉시 무효화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쉬움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어려움(블랙리스트 필요)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서버 재시작 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세션 소멸 → 전원 로그아웃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영향 없음(토큰 유효)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FC0E8"/>
                </a:solidFill>
              </a:rPr>
              <a:t>흐름 비교</a:t>
            </a:r>
          </a:p>
          <a:p>
            <a:r>
              <a:rPr sz="3800" b="1">
                <a:solidFill>
                  <a:srgbClr val="FFFFFF"/>
                </a:solidFill>
              </a:rPr>
              <a:t>로그인과 후속 요청은 어떻게 다른가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① 로그인 흐름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548640"/>
          </a:xfrm>
          <a:prstGeom prst="rect">
            <a:avLst/>
          </a:prstGeom>
          <a:solidFill>
            <a:srgbClr val="2F559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세션 — 서버가 저장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577840" cy="4297680"/>
          </a:xfrm>
          <a:prstGeom prst="rect">
            <a:avLst/>
          </a:prstGeom>
          <a:solidFill>
            <a:srgbClr val="262A33"/>
          </a:solidFill>
          <a:ln>
            <a:solidFill>
              <a:srgbClr val="2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 anchorCtr="0"/>
          <a:lstStyle/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Client → Server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  login(id, pw)</a:t>
            </a:r>
          </a:p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</a:t>
            </a:r>
            <a:r>
              <a:rPr lang="ko-KR" sz="1500" dirty="0">
                <a:solidFill>
                  <a:srgbClr val="C9D2E0"/>
                </a:solidFill>
              </a:rPr>
              <a:t>  검증 OK</a:t>
            </a:r>
          </a:p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</a:t>
            </a:r>
            <a:r>
              <a:rPr lang="ko-KR" sz="1500" dirty="0">
                <a:solidFill>
                  <a:srgbClr val="C9D2E0"/>
                </a:solidFill>
              </a:rPr>
              <a:t>  세션 저장소에 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{SID → userId}</a:t>
            </a:r>
            <a:r>
              <a:rPr lang="ko-KR" sz="1500" dirty="0">
                <a:solidFill>
                  <a:srgbClr val="C9D2E0"/>
                </a:solidFill>
              </a:rPr>
              <a:t> 저장</a:t>
            </a:r>
          </a:p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 → Client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  Set-Cookie: JSESSIONID=8B6C...</a:t>
            </a:r>
          </a:p>
          <a:p>
            <a:pPr marL="0" indent="0">
              <a:spcBef>
                <a:spcPts val="700"/>
              </a:spcBef>
            </a:pPr>
            <a:r>
              <a:rPr lang="ko-KR" sz="1600" b="1" dirty="0">
                <a:solidFill>
                  <a:srgbClr val="9FC7F0"/>
                </a:solidFill>
              </a:rPr>
              <a:t>→ 서버 메모리에 상태가 남는다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188720"/>
            <a:ext cx="5577840" cy="548640"/>
          </a:xfrm>
          <a:prstGeom prst="rect">
            <a:avLst/>
          </a:prstGeom>
          <a:solidFill>
            <a:srgbClr val="2E7D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JWT — 토큰만 발급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577840" cy="4297680"/>
          </a:xfrm>
          <a:prstGeom prst="rect">
            <a:avLst/>
          </a:prstGeom>
          <a:solidFill>
            <a:srgbClr val="262A33"/>
          </a:solidFill>
          <a:ln>
            <a:solidFill>
              <a:srgbClr val="1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 anchorCtr="0"/>
          <a:lstStyle/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Client → Server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  login(id, pw)</a:t>
            </a:r>
          </a:p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</a:t>
            </a:r>
            <a:r>
              <a:rPr lang="ko-KR" sz="1500" dirty="0">
                <a:solidFill>
                  <a:srgbClr val="C9D2E0"/>
                </a:solidFill>
              </a:rPr>
              <a:t>  검증 OK</a:t>
            </a:r>
          </a:p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  createToken(userId)</a:t>
            </a:r>
          </a:p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</a:t>
            </a:r>
            <a:r>
              <a:rPr lang="ko-KR" sz="1500" dirty="0">
                <a:solidFill>
                  <a:srgbClr val="C9D2E0"/>
                </a:solidFill>
              </a:rPr>
              <a:t>  (저장 안 함)</a:t>
            </a:r>
          </a:p>
          <a:p>
            <a:pPr marL="228600" indent="-228600"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 → Client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  { accessToken: "eyJhbGci..." }</a:t>
            </a:r>
          </a:p>
          <a:p>
            <a:pPr marL="0" indent="0">
              <a:spcBef>
                <a:spcPts val="700"/>
              </a:spcBef>
            </a:pPr>
            <a:r>
              <a:rPr lang="ko-KR" sz="1600" b="1" dirty="0">
                <a:solidFill>
                  <a:srgbClr val="A7E0C2"/>
                </a:solidFill>
              </a:rPr>
              <a:t>→ 서버에 아무 상태도 남지 않는다</a:t>
            </a:r>
          </a:p>
        </p:txBody>
      </p:sp>
    </p:spTree>
    <p:extLst>
      <p:ext uri="{BB962C8B-B14F-4D97-AF65-F5344CB8AC3E}">
        <p14:creationId xmlns:p14="http://schemas.microsoft.com/office/powerpoint/2010/main" val="392599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② 후속 요청(보호 API) 흐름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548640"/>
          </a:xfrm>
          <a:prstGeom prst="rect">
            <a:avLst/>
          </a:prstGeom>
          <a:solidFill>
            <a:srgbClr val="2F559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세션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577840" cy="4297680"/>
          </a:xfrm>
          <a:prstGeom prst="rect">
            <a:avLst/>
          </a:prstGeom>
          <a:solidFill>
            <a:srgbClr val="262A33"/>
          </a:solidFill>
          <a:ln>
            <a:solidFill>
              <a:srgbClr val="2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 anchorCtr="0"/>
          <a:lstStyle/>
          <a:p>
            <a:pPr marL="228600" indent="-228600">
              <a:spcAft>
                <a:spcPts val="400"/>
              </a:spcAft>
            </a:pPr>
            <a:r>
              <a:rPr lang="en-US" sz="1500" b="1" dirty="0">
                <a:solidFill>
                  <a:srgbClr val="FFFFFF"/>
                </a:solidFill>
              </a:rPr>
              <a:t>Client → Server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  GET /me</a:t>
            </a:r>
          </a:p>
          <a:p>
            <a:pPr marL="502920" indent="0">
              <a:spcAft>
                <a:spcPts val="400"/>
              </a:spcAft>
            </a:pPr>
            <a:r>
              <a:rPr lang="en-US" sz="1500" dirty="0">
                <a:solidFill>
                  <a:srgbClr val="E8EAF0"/>
                </a:solidFill>
                <a:latin typeface="Consolas"/>
              </a:rPr>
              <a:t>Cookie: JSESSIONID=8B6C...</a:t>
            </a:r>
          </a:p>
          <a:p>
            <a:pPr marL="228600" indent="-228600">
              <a:spcAft>
                <a:spcPts val="400"/>
              </a:spcAft>
            </a:pPr>
            <a:r>
              <a:rPr lang="ko-KR" sz="1500" dirty="0">
                <a:solidFill>
                  <a:srgbClr val="C9D2E0"/>
                </a:solidFill>
              </a:rPr>
              <a:t>쿠키로 세션 저장소 조회</a:t>
            </a:r>
          </a:p>
          <a:p>
            <a:pPr marL="228600" indent="-228600">
              <a:spcAft>
                <a:spcPts val="400"/>
              </a:spcAft>
            </a:pPr>
            <a:r>
              <a:rPr lang="ko-KR" sz="1500" dirty="0">
                <a:solidFill>
                  <a:srgbClr val="C9D2E0"/>
                </a:solidFill>
              </a:rPr>
              <a:t>→ userId 발견</a:t>
            </a:r>
          </a:p>
          <a:p>
            <a:pPr marL="228600" indent="-228600">
              <a:spcAft>
                <a:spcPts val="400"/>
              </a:spcAft>
            </a:pPr>
            <a:r>
              <a:rPr lang="en-US" sz="1500" dirty="0">
                <a:solidFill>
                  <a:srgbClr val="E8EAF0"/>
                </a:solidFill>
                <a:latin typeface="Consolas"/>
              </a:rPr>
              <a:t>@LoginUserId</a:t>
            </a:r>
            <a:r>
              <a:rPr lang="ko-KR" sz="1500" dirty="0">
                <a:solidFill>
                  <a:srgbClr val="C9D2E0"/>
                </a:solidFill>
              </a:rPr>
              <a:t> 주입</a:t>
            </a:r>
          </a:p>
          <a:p>
            <a:pPr marL="228600" indent="-228600">
              <a:spcAft>
                <a:spcPts val="4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 → Client</a:t>
            </a:r>
            <a:r>
              <a:rPr lang="ko-KR" sz="1500" dirty="0">
                <a:solidFill>
                  <a:srgbClr val="C9D2E0"/>
                </a:solidFill>
              </a:rPr>
              <a:t>  200</a:t>
            </a:r>
          </a:p>
          <a:p>
            <a:pPr marL="0" indent="0">
              <a:spcBef>
                <a:spcPts val="600"/>
              </a:spcBef>
            </a:pPr>
            <a:r>
              <a:rPr lang="ko-KR" sz="1600" b="1" dirty="0">
                <a:solidFill>
                  <a:srgbClr val="9FC7F0"/>
                </a:solidFill>
              </a:rPr>
              <a:t>핵심: 서버 저장소를 "조회"한다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188720"/>
            <a:ext cx="5577840" cy="548640"/>
          </a:xfrm>
          <a:prstGeom prst="rect">
            <a:avLst/>
          </a:prstGeom>
          <a:solidFill>
            <a:srgbClr val="2E7D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577840" cy="4297680"/>
          </a:xfrm>
          <a:prstGeom prst="rect">
            <a:avLst/>
          </a:prstGeom>
          <a:solidFill>
            <a:srgbClr val="262A33"/>
          </a:solidFill>
          <a:ln>
            <a:solidFill>
              <a:srgbClr val="1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 anchorCtr="0"/>
          <a:lstStyle/>
          <a:p>
            <a:pPr marL="228600" indent="-228600">
              <a:spcAft>
                <a:spcPts val="400"/>
              </a:spcAft>
            </a:pPr>
            <a:r>
              <a:rPr lang="en-US" sz="1500" b="1" dirty="0">
                <a:solidFill>
                  <a:srgbClr val="FFFFFF"/>
                </a:solidFill>
              </a:rPr>
              <a:t>Client → Server</a:t>
            </a:r>
            <a:r>
              <a:rPr lang="en-US" sz="1500" dirty="0">
                <a:solidFill>
                  <a:srgbClr val="E8EAF0"/>
                </a:solidFill>
                <a:latin typeface="Consolas"/>
              </a:rPr>
              <a:t>  GET /me</a:t>
            </a:r>
          </a:p>
          <a:p>
            <a:pPr marL="502920" indent="0">
              <a:spcAft>
                <a:spcPts val="400"/>
              </a:spcAft>
            </a:pPr>
            <a:r>
              <a:rPr lang="en-US" sz="1500" dirty="0">
                <a:solidFill>
                  <a:srgbClr val="E8EAF0"/>
                </a:solidFill>
                <a:latin typeface="Consolas"/>
              </a:rPr>
              <a:t>Authorization: Bearer eyJhbGci...</a:t>
            </a:r>
          </a:p>
          <a:p>
            <a:pPr marL="228600" indent="-228600">
              <a:spcAft>
                <a:spcPts val="400"/>
              </a:spcAft>
            </a:pPr>
            <a:r>
              <a:rPr lang="ko-KR" sz="1500" dirty="0">
                <a:solidFill>
                  <a:srgbClr val="C9D2E0"/>
                </a:solidFill>
              </a:rPr>
              <a:t>토큰 서명·만료 검증</a:t>
            </a:r>
          </a:p>
          <a:p>
            <a:pPr marL="228600" indent="-228600">
              <a:spcAft>
                <a:spcPts val="400"/>
              </a:spcAft>
            </a:pPr>
            <a:r>
              <a:rPr lang="ko-KR" sz="1500" dirty="0">
                <a:solidFill>
                  <a:srgbClr val="C9D2E0"/>
                </a:solidFill>
              </a:rPr>
              <a:t>→ 토큰 안의 userId 사용</a:t>
            </a:r>
          </a:p>
          <a:p>
            <a:pPr marL="228600" indent="-228600">
              <a:spcAft>
                <a:spcPts val="400"/>
              </a:spcAft>
            </a:pPr>
            <a:r>
              <a:rPr lang="en-US" sz="1500" dirty="0">
                <a:solidFill>
                  <a:srgbClr val="E8EAF0"/>
                </a:solidFill>
                <a:latin typeface="Consolas"/>
              </a:rPr>
              <a:t>@LoginUserId</a:t>
            </a:r>
            <a:r>
              <a:rPr lang="ko-KR" sz="1500" dirty="0">
                <a:solidFill>
                  <a:srgbClr val="C9D2E0"/>
                </a:solidFill>
              </a:rPr>
              <a:t> 주입</a:t>
            </a:r>
          </a:p>
          <a:p>
            <a:pPr marL="228600" indent="-228600">
              <a:spcAft>
                <a:spcPts val="400"/>
              </a:spcAft>
            </a:pPr>
            <a:r>
              <a:rPr lang="en-US" sz="1500" b="1" dirty="0">
                <a:solidFill>
                  <a:srgbClr val="FFFFFF"/>
                </a:solidFill>
              </a:rPr>
              <a:t>Server → Client</a:t>
            </a:r>
            <a:r>
              <a:rPr lang="ko-KR" sz="1500" dirty="0">
                <a:solidFill>
                  <a:srgbClr val="C9D2E0"/>
                </a:solidFill>
              </a:rPr>
              <a:t>  200</a:t>
            </a:r>
          </a:p>
          <a:p>
            <a:pPr marL="0" indent="0">
              <a:spcBef>
                <a:spcPts val="600"/>
              </a:spcBef>
            </a:pPr>
            <a:r>
              <a:rPr lang="ko-KR" sz="1600" b="1" dirty="0">
                <a:solidFill>
                  <a:srgbClr val="A7E0C2"/>
                </a:solidFill>
              </a:rPr>
              <a:t>핵심: 토큰을 "검증"한다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7A520A"/>
                </a:solidFill>
              </a:rPr>
              <a:t>두 방식 모두 결과는 같다 — request에 userId를 준비해 컨트롤러에 넘긴다. 가져오는 출처만 다르다.</a:t>
            </a:r>
          </a:p>
        </p:txBody>
      </p:sp>
    </p:spTree>
    <p:extLst>
      <p:ext uri="{BB962C8B-B14F-4D97-AF65-F5344CB8AC3E}">
        <p14:creationId xmlns:p14="http://schemas.microsoft.com/office/powerpoint/2010/main" val="2406933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FC0E8"/>
                </a:solidFill>
              </a:rPr>
              <a:t>코드 비교</a:t>
            </a:r>
          </a:p>
          <a:p>
            <a:r>
              <a:rPr sz="3800" b="1">
                <a:solidFill>
                  <a:srgbClr val="FFFFFF"/>
                </a:solidFill>
              </a:rPr>
              <a:t>이 프로젝트에서 실제로 무엇이 바뀌었나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코드 비교 ① — 로그인 (AuthController/Service)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548640"/>
          </a:xfrm>
          <a:prstGeom prst="rect">
            <a:avLst/>
          </a:prstGeom>
          <a:solidFill>
            <a:srgbClr val="2E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세션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577840" cy="3749040"/>
          </a:xfrm>
          <a:prstGeom prst="rect">
            <a:avLst/>
          </a:prstGeom>
          <a:solidFill>
            <a:srgbClr val="262A33"/>
          </a:solidFill>
          <a:ln>
            <a:solidFill>
              <a:srgbClr val="2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8AB0D8"/>
                </a:solidFill>
                <a:latin typeface="Courier New"/>
              </a:rPr>
              <a:t>// AuthController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public UserResponse login(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  LoginRequest req,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  HttpSession session)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var user =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  authService.login(req);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session.setAttribute(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  LOGIN_USER_ID, user.id());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return user;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188720"/>
            <a:ext cx="5577840" cy="548640"/>
          </a:xfrm>
          <a:prstGeom prst="rect">
            <a:avLst/>
          </a:prstGeom>
          <a:solidFill>
            <a:srgbClr val="1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577840" cy="3749040"/>
          </a:xfrm>
          <a:prstGeom prst="rect">
            <a:avLst/>
          </a:prstGeom>
          <a:solidFill>
            <a:srgbClr val="262A33"/>
          </a:solidFill>
          <a:ln>
            <a:solidFill>
              <a:srgbClr val="1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8AC8A8"/>
                </a:solidFill>
                <a:latin typeface="Courier New"/>
              </a:rPr>
              <a:t>// AuthController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public TokenResponse login(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  LoginRequest req)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return authService.login(req);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}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AC8A8"/>
                </a:solidFill>
                <a:latin typeface="Courier New"/>
              </a:rPr>
              <a:t>// AuthService.login()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// 비밀번호 검증 후: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String token =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tokenProvider.createToken(id);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return TokenResponse.bearer(...);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7A520A"/>
                </a:solidFill>
              </a:rPr>
              <a:t>검증 로직은 동일. 성공 후 '세션 저장' → '토큰 발급'으로만 바뀐다. 세션 파라미터가 사라졌다.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코드 비교 ② — 사용자 식별 (ArgumentResolver 내부)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548640"/>
          </a:xfrm>
          <a:prstGeom prst="rect">
            <a:avLst/>
          </a:prstGeom>
          <a:solidFill>
            <a:srgbClr val="2E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세션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577840" cy="3383280"/>
          </a:xfrm>
          <a:prstGeom prst="rect">
            <a:avLst/>
          </a:prstGeom>
          <a:solidFill>
            <a:srgbClr val="262A33"/>
          </a:solidFill>
          <a:ln>
            <a:solidFill>
              <a:srgbClr val="2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8AB0D8"/>
                </a:solidFill>
                <a:latin typeface="Courier New"/>
              </a:rPr>
              <a:t>// LoginUserIdArgumentResolver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Long id = session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.getAttribute(LOGIN_USER_ID);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if (id == null)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throw new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 UnauthorizedException(...);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return id;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188720"/>
            <a:ext cx="5577840" cy="548640"/>
          </a:xfrm>
          <a:prstGeom prst="rect">
            <a:avLst/>
          </a:prstGeom>
          <a:solidFill>
            <a:srgbClr val="1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577840" cy="3383280"/>
          </a:xfrm>
          <a:prstGeom prst="rect">
            <a:avLst/>
          </a:prstGeom>
          <a:solidFill>
            <a:srgbClr val="262A33"/>
          </a:solidFill>
          <a:ln>
            <a:solidFill>
              <a:srgbClr val="1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8AC8A8"/>
                </a:solidFill>
                <a:latin typeface="Courier New"/>
              </a:rPr>
              <a:t>// LoginUserIdArgumentResolver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Long id = request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.getAttribute(LOGIN_USER_ID);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if (id == null)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throw new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   UnauthorizedException(...);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8EAF0"/>
                </a:solidFill>
                <a:latin typeface="Courier New"/>
              </a:rPr>
              <a:t>return id;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300" b="1">
                <a:solidFill>
                  <a:srgbClr val="7A520A"/>
                </a:solidFill>
              </a:rPr>
              <a:t>거의 동일! 'session.getAttribute' → 'request.getAttribute' 한 곳만 다르다. (필터가 토큰에서 꺼내 심어둠)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코드 비교 ③ — 컨트롤러는 변하지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@LoginUserId 추상화 덕분에 인증 방식이 바뀌어도 비즈니스 컨트롤러는 그대로다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solidFill>
            <a:srgbClr val="262A33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>
                <a:solidFill>
                  <a:srgbClr val="B8C0CC"/>
                </a:solidFill>
                <a:latin typeface="Courier New"/>
              </a:rPr>
              <a:t>// PostController — 세션이든 JWT든 똑같다</a:t>
            </a:r>
          </a:p>
          <a:p>
            <a:r>
              <a:rPr sz="1400">
                <a:solidFill>
                  <a:srgbClr val="E8EAF0"/>
                </a:solidFill>
                <a:latin typeface="Courier New"/>
              </a:rPr>
              <a:t>public PostResponse create(@PathVariable Long boardId,</a:t>
            </a:r>
          </a:p>
          <a:p>
            <a:r>
              <a:rPr sz="1400">
                <a:solidFill>
                  <a:srgbClr val="E8EAF0"/>
                </a:solidFill>
                <a:latin typeface="Courier New"/>
              </a:rPr>
              <a:t>    @LoginUserId Long userId, @Valid @RequestBody ... req) {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749039"/>
          <a:ext cx="94183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ourier New"/>
                        </a:rPr>
                        <a:t>git diff main..step2-jwt</a:t>
                      </a:r>
                    </a:p>
                  </a:txBody>
                  <a:tcPr marL="10972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변경 라인</a:t>
                      </a:r>
                    </a:p>
                  </a:txBody>
                  <a:tcPr marL="10972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PostController / BoardController / ProfileController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7A52"/>
                          </a:solidFill>
                        </a:rPr>
                        <a:t>0 줄</a:t>
                      </a:r>
                    </a:p>
                  </a:txBody>
                  <a:tcPr marL="109728" anchor="ctr">
                    <a:solidFill>
                      <a:srgbClr val="E3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7A520A"/>
                </a:solidFill>
              </a:rPr>
              <a:t>변하는 것(인증 방식)과 변하지 않는 것(컨트롤러)의 경계를 추상화가 그어준다 — 이것이 추상화를 배우는 이유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장단점 — 무엇을 얻고 무엇을 양보하나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548640"/>
          </a:xfrm>
          <a:prstGeom prst="rect">
            <a:avLst/>
          </a:prstGeom>
          <a:solidFill>
            <a:srgbClr val="2E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세션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577840" cy="4206240"/>
          </a:xfrm>
          <a:prstGeom prst="rect">
            <a:avLst/>
          </a:prstGeom>
          <a:solidFill>
            <a:srgbClr val="E7EFF8"/>
          </a:solidFill>
          <a:ln>
            <a:solidFill>
              <a:srgbClr val="2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E5E9E"/>
                </a:solidFill>
              </a:rPr>
              <a:t>장점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로그아웃 즉시 무효화 쉬움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서버가 통제권을 가짐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3333"/>
                </a:solidFill>
              </a:rPr>
              <a:t>• 토큰 탈취 표면이 작음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B03A2E"/>
                </a:solidFill>
              </a:rPr>
              <a:t>단점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다중 서버 시 세션 공유 필요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동시 접속자만큼 메모리 사용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재시작 시 전원 로그아웃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188720"/>
            <a:ext cx="5577840" cy="548640"/>
          </a:xfrm>
          <a:prstGeom prst="rect">
            <a:avLst/>
          </a:prstGeom>
          <a:solidFill>
            <a:srgbClr val="1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577840" cy="4206240"/>
          </a:xfrm>
          <a:prstGeom prst="rect">
            <a:avLst/>
          </a:prstGeom>
          <a:solidFill>
            <a:srgbClr val="E3F2EA"/>
          </a:solidFill>
          <a:ln>
            <a:solidFill>
              <a:srgbClr val="1F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7A52"/>
                </a:solidFill>
              </a:rPr>
              <a:t>장점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서버 무상태 → 수평 확장 자유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세션 저장소 불필요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333333"/>
                </a:solidFill>
              </a:rPr>
              <a:t>• MSA/모바일에 적합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B03A2E"/>
                </a:solidFill>
              </a:rPr>
              <a:t>단점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만료 전 강제 무효화 어려움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토큰 유출 시 만료까지 유효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페이로드는 누구나 디코드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언제 무엇을 쓰나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추천</a:t>
                      </a:r>
                    </a:p>
                  </a:txBody>
                  <a:tcPr marL="73152" marR="54864" marT="18288" marB="18288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이유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단일 서버 / 전통적 웹앱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세션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구현 단순, 즉시 로그아웃, 서버 통제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다중 서버 / 로드밸런서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JWT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세션 공유 인프라 불필요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모바일 앱 / 외부 API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JWT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쿠키 의존 없이 헤더로 인증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MSA (서비스 여러 개)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JWT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서비스 간 무상태 인증 전파</a:t>
                      </a:r>
                    </a:p>
                  </a:txBody>
                  <a:tcPr marL="73152" marR="54864" marT="18288" marB="18288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강한 세션 통제가 필요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세션 / JWT+블랙리스트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즉시 무효화 요구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실무에서는 하이브리드도 흔하다: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짧은 Access Token(JWT) + 서버가 보관하는 Refresh Token(세션의 통제력) 조합으로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확장성과 무효화를 모두 취한다 — 다음 단계 주제.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핵심 요약 한 장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184E48-82C8-EF4F-9E7F-E385E16ECF40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219200"/>
          <a:ext cx="103632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733935059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1132457558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FFFFFF"/>
                          </a:solidFill>
                        </a:rPr>
                        <a:t>세션 (Stateful)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FFFFFF"/>
                          </a:solidFill>
                        </a:rPr>
                        <a:t>JWT (Stateless)</a:t>
                      </a:r>
                    </a:p>
                  </a:txBody>
                  <a:tcPr anchor="ctr">
                    <a:solidFill>
                      <a:srgbClr val="2E7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442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서버가 기억한다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토큰이 정보를 들고 다닌다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2833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JSESSIONID 쿠키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Authorization: Bearer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9666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저장소 조회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서명 검증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447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invalidate()로 로그아웃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클라이언트가 토큰 폐기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273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확장 어려움 / 무효화 쉬움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22272E"/>
                          </a:solidFill>
                        </a:rPr>
                        <a:t>확장 자유 / 무효화 어려움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582377"/>
                  </a:ext>
                </a:extLst>
              </a:tr>
            </a:tbl>
          </a:graphicData>
        </a:graphic>
      </p:graphicFrame>
      <p:sp>
        <p:nvSpPr>
          <p:cNvPr id="6" name="SummaryCallout">
            <a:extLst>
              <a:ext uri="{FF2B5EF4-FFF2-40B4-BE49-F238E27FC236}">
                <a16:creationId xmlns:a16="http://schemas.microsoft.com/office/drawing/2014/main" id="{D825C0F2-4C08-EC4F-8624-E22CCF118449}"/>
              </a:ext>
            </a:extLst>
          </p:cNvPr>
          <p:cNvSpPr/>
          <p:nvPr/>
        </p:nvSpPr>
        <p:spPr>
          <a:xfrm>
            <a:off x="914400" y="4419600"/>
            <a:ext cx="10363200" cy="1524000"/>
          </a:xfrm>
          <a:prstGeom prst="roundRect">
            <a:avLst/>
          </a:prstGeom>
          <a:solidFill>
            <a:srgbClr val="101626"/>
          </a:solidFill>
          <a:ln w="19050" cap="flat" cmpd="sng" algn="ctr">
            <a:solidFill>
              <a:srgbClr val="2E7D5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>
              <a:spcAft>
                <a:spcPts val="600"/>
              </a:spcAft>
            </a:pPr>
            <a:r>
              <a:rPr lang="ko-KR" sz="1600" b="1" dirty="0">
                <a:solidFill>
                  <a:srgbClr val="7FE3B0"/>
                </a:solidFill>
              </a:rPr>
              <a:t>공통   </a:t>
            </a:r>
            <a:r>
              <a:rPr lang="ko-KR" sz="1600" dirty="0">
                <a:solidFill>
                  <a:srgbClr val="D8E8DF"/>
                </a:solidFill>
              </a:rPr>
              <a:t>@LoginUserId 추상화로 컨트롤러는 양쪽 모두 불변</a:t>
            </a:r>
          </a:p>
          <a:p>
            <a:r>
              <a:rPr lang="ko-KR" sz="1600" b="1" dirty="0">
                <a:solidFill>
                  <a:srgbClr val="7FE3B0"/>
                </a:solidFill>
              </a:rPr>
              <a:t>전환   </a:t>
            </a:r>
            <a:r>
              <a:rPr lang="ko-KR" sz="1600" dirty="0">
                <a:solidFill>
                  <a:srgbClr val="D8E8DF"/>
                </a:solidFill>
              </a:rPr>
              <a:t>Resolver 내부 1줄(session→request) + 필터 추가</a:t>
            </a:r>
          </a:p>
        </p:txBody>
      </p:sp>
    </p:spTree>
    <p:extLst>
      <p:ext uri="{BB962C8B-B14F-4D97-AF65-F5344CB8AC3E}">
        <p14:creationId xmlns:p14="http://schemas.microsoft.com/office/powerpoint/2010/main" val="2587015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FC0E8"/>
                </a:solidFill>
              </a:rPr>
              <a:t>정리</a:t>
            </a:r>
          </a:p>
          <a:p>
            <a:pPr>
              <a:spcBef>
                <a:spcPts val="1400"/>
              </a:spcBef>
            </a:pPr>
            <a:r>
              <a:rPr sz="3000" b="1">
                <a:solidFill>
                  <a:srgbClr val="FFFFFF"/>
                </a:solidFill>
              </a:rPr>
              <a:t>세션은 서버가 기억하고, JWT는 토큰이 증명한다.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FFFFFF"/>
                </a:solidFill>
              </a:rPr>
              <a:t>정답은 없다 — 확장성과 통제력의 트레이드오프를 고른다.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C9D7EE"/>
                </a:solidFill>
              </a:rPr>
              <a:t>그리고 잘 만든 추상화는 그 선택을 컨트롤러로부터 숨긴다.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C4B129-1F4C-B843-A70A-FA06D4234DD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81a5305-0069-4ff7-ae75-68963d7a1f5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983</Words>
  <Application>Microsoft Macintosh PowerPoint</Application>
  <PresentationFormat>와이드스크린</PresentationFormat>
  <Paragraphs>198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은범 김</cp:lastModifiedBy>
  <cp:revision>2</cp:revision>
  <dcterms:created xsi:type="dcterms:W3CDTF">2013-01-27T09:14:16Z</dcterms:created>
  <dcterms:modified xsi:type="dcterms:W3CDTF">2026-06-19T16:56:08Z</dcterms:modified>
  <cp:category/>
</cp:coreProperties>
</file>